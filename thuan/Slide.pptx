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</p:sldMasterIdLst>
  <p:notesMasterIdLst>
    <p:notesMasterId r:id="rId18"/>
  </p:notesMasterIdLst>
  <p:sldIdLst>
    <p:sldId id="256" r:id="rId2"/>
    <p:sldId id="321" r:id="rId3"/>
    <p:sldId id="322" r:id="rId4"/>
    <p:sldId id="323" r:id="rId5"/>
    <p:sldId id="324" r:id="rId6"/>
    <p:sldId id="325" r:id="rId7"/>
    <p:sldId id="326" r:id="rId8"/>
    <p:sldId id="327" r:id="rId9"/>
    <p:sldId id="328" r:id="rId10"/>
    <p:sldId id="329" r:id="rId11"/>
    <p:sldId id="330" r:id="rId12"/>
    <p:sldId id="331" r:id="rId13"/>
    <p:sldId id="332" r:id="rId14"/>
    <p:sldId id="333" r:id="rId15"/>
    <p:sldId id="336" r:id="rId16"/>
    <p:sldId id="334" r:id="rId17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Crimson Text" panose="020B0604020202020204" charset="0"/>
      <p:regular r:id="rId23"/>
      <p:bold r:id="rId24"/>
      <p:italic r:id="rId25"/>
      <p:boldItalic r:id="rId26"/>
    </p:embeddedFont>
    <p:embeddedFont>
      <p:font typeface="Josefin Sans" pitchFamily="2" charset="0"/>
      <p:regular r:id="rId27"/>
      <p:bold r:id="rId28"/>
    </p:embeddedFont>
    <p:embeddedFont>
      <p:font typeface="Lato" panose="020F0502020204030203" pitchFamily="34" charset="0"/>
      <p:regular r:id="rId29"/>
      <p:bold r:id="rId30"/>
      <p:italic r:id="rId31"/>
      <p:boldItalic r:id="rId32"/>
    </p:embeddedFont>
    <p:embeddedFont>
      <p:font typeface="Mako" panose="020B0604020202020204" charset="0"/>
      <p:regular r:id="rId33"/>
    </p:embeddedFont>
    <p:embeddedFont>
      <p:font typeface="Merriweather Light" panose="00000400000000000000" pitchFamily="2" charset="0"/>
      <p:regular r:id="rId34"/>
      <p:bold r:id="rId35"/>
      <p:italic r:id="rId36"/>
      <p:boldItalic r:id="rId37"/>
    </p:embeddedFont>
    <p:embeddedFont>
      <p:font typeface="Montserrat" panose="00000500000000000000" pitchFamily="2" charset="0"/>
      <p:regular r:id="rId38"/>
      <p:bold r:id="rId39"/>
      <p:italic r:id="rId40"/>
      <p:boldItalic r:id="rId41"/>
    </p:embeddedFont>
    <p:embeddedFont>
      <p:font typeface="Open Sans SemiBold" panose="020B0706030804020204" pitchFamily="34" charset="0"/>
      <p:regular r:id="rId42"/>
      <p:bold r:id="rId43"/>
      <p:italic r:id="rId44"/>
      <p:boldItalic r:id="rId45"/>
    </p:embeddedFont>
    <p:embeddedFont>
      <p:font typeface="Russo One" panose="020B0604020202020204" charset="0"/>
      <p:regular r:id="rId46"/>
    </p:embeddedFont>
    <p:embeddedFont>
      <p:font typeface="Vidaloka" panose="020B0604020202020204" charset="0"/>
      <p:regular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B339247-5197-4323-9904-1E25CFE03805}">
  <a:tblStyle styleId="{FB339247-5197-4323-9904-1E25CFE0380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font" Target="fonts/font21.fntdata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schemas.openxmlformats.org/officeDocument/2006/relationships/font" Target="fonts/font24.fntdata"/><Relationship Id="rId47" Type="http://schemas.openxmlformats.org/officeDocument/2006/relationships/font" Target="fonts/font29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1.fntdata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font" Target="fonts/font22.fntdata"/><Relationship Id="rId45" Type="http://schemas.openxmlformats.org/officeDocument/2006/relationships/font" Target="fonts/font2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4" Type="http://schemas.openxmlformats.org/officeDocument/2006/relationships/font" Target="fonts/font2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43" Type="http://schemas.openxmlformats.org/officeDocument/2006/relationships/font" Target="fonts/font25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Relationship Id="rId46" Type="http://schemas.openxmlformats.org/officeDocument/2006/relationships/font" Target="fonts/font28.fntdata"/><Relationship Id="rId20" Type="http://schemas.openxmlformats.org/officeDocument/2006/relationships/font" Target="fonts/font2.fntdata"/><Relationship Id="rId41" Type="http://schemas.openxmlformats.org/officeDocument/2006/relationships/font" Target="fonts/font2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867300" y="2366275"/>
            <a:ext cx="7409400" cy="818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2291400" y="3305275"/>
            <a:ext cx="4561200" cy="3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9" name="Google Shape;19;p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20;p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21;p3"/>
          <p:cNvCxnSpPr/>
          <p:nvPr/>
        </p:nvCxnSpPr>
        <p:spPr>
          <a:xfrm flipH="1">
            <a:off x="7948925" y="3979775"/>
            <a:ext cx="1378500" cy="12363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22;p3"/>
          <p:cNvCxnSpPr/>
          <p:nvPr/>
        </p:nvCxnSpPr>
        <p:spPr>
          <a:xfrm flipH="1">
            <a:off x="-112875" y="-88700"/>
            <a:ext cx="1418700" cy="1064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>
            <a:endParaRPr/>
          </a:p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8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5038975" y="2551449"/>
            <a:ext cx="2486100" cy="5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2"/>
          </p:nvPr>
        </p:nvSpPr>
        <p:spPr>
          <a:xfrm>
            <a:off x="5038975" y="2961200"/>
            <a:ext cx="2486100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3"/>
          </p:nvPr>
        </p:nvSpPr>
        <p:spPr>
          <a:xfrm>
            <a:off x="1693175" y="2551449"/>
            <a:ext cx="2486100" cy="5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4"/>
          </p:nvPr>
        </p:nvSpPr>
        <p:spPr>
          <a:xfrm>
            <a:off x="1693175" y="2961200"/>
            <a:ext cx="2486100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5" name="Google Shape;35;p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Google Shape;36;p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" name="Google Shape;37;p5"/>
          <p:cNvCxnSpPr/>
          <p:nvPr/>
        </p:nvCxnSpPr>
        <p:spPr>
          <a:xfrm flipH="1">
            <a:off x="6935750" y="3931325"/>
            <a:ext cx="2549400" cy="13545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40" name="Google Shape;40;p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subTitle" idx="1"/>
          </p:nvPr>
        </p:nvSpPr>
        <p:spPr>
          <a:xfrm>
            <a:off x="2247500" y="1433050"/>
            <a:ext cx="1838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ubTitle" idx="2"/>
          </p:nvPr>
        </p:nvSpPr>
        <p:spPr>
          <a:xfrm>
            <a:off x="2247500" y="1790050"/>
            <a:ext cx="5160300" cy="27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50800" lvl="0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>
                <a:solidFill>
                  <a:srgbClr val="374957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29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46" name="Google Shape;46;p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" name="Google Shape;47;p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1122500" y="1073000"/>
            <a:ext cx="6899100" cy="285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cxnSp>
        <p:nvCxnSpPr>
          <p:cNvPr id="50" name="Google Shape;50;p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" name="Google Shape;51;p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" name="Google Shape;52;p8"/>
          <p:cNvCxnSpPr/>
          <p:nvPr/>
        </p:nvCxnSpPr>
        <p:spPr>
          <a:xfrm flipH="1">
            <a:off x="7093250" y="3935075"/>
            <a:ext cx="2332800" cy="1347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" name="Google Shape;53;p8"/>
          <p:cNvCxnSpPr/>
          <p:nvPr/>
        </p:nvCxnSpPr>
        <p:spPr>
          <a:xfrm flipH="1">
            <a:off x="-420450" y="-121600"/>
            <a:ext cx="2332800" cy="1347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body" idx="1"/>
          </p:nvPr>
        </p:nvSpPr>
        <p:spPr>
          <a:xfrm>
            <a:off x="713225" y="441927"/>
            <a:ext cx="3557100" cy="9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latin typeface="Vidaloka"/>
                <a:ea typeface="Vidaloka"/>
                <a:cs typeface="Vidaloka"/>
                <a:sym typeface="Vidaloka"/>
              </a:defRPr>
            </a:lvl1pPr>
          </a:lstStyle>
          <a:p>
            <a:endParaRPr/>
          </a:p>
        </p:txBody>
      </p:sp>
      <p:cxnSp>
        <p:nvCxnSpPr>
          <p:cNvPr id="62" name="Google Shape;62;p1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Google Shape;63;p1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" name="Google Shape;64;p10"/>
          <p:cNvCxnSpPr/>
          <p:nvPr/>
        </p:nvCxnSpPr>
        <p:spPr>
          <a:xfrm rot="10800000" flipH="1">
            <a:off x="6144975" y="3103725"/>
            <a:ext cx="3118200" cy="22011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345363"/>
            <a:ext cx="7717500" cy="16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>
            <a:spLocks noGrp="1"/>
          </p:cNvSpPr>
          <p:nvPr>
            <p:ph type="subTitle" idx="1"/>
          </p:nvPr>
        </p:nvSpPr>
        <p:spPr>
          <a:xfrm>
            <a:off x="1514325" y="3188648"/>
            <a:ext cx="61203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68" name="Google Shape;68;p1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" name="Google Shape;69;p1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" name="Google Shape;70;p11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" name="Google Shape;71;p11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50010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2"/>
          </p:nvPr>
        </p:nvSpPr>
        <p:spPr>
          <a:xfrm>
            <a:off x="50010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3"/>
          </p:nvPr>
        </p:nvSpPr>
        <p:spPr>
          <a:xfrm>
            <a:off x="16552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4"/>
          </p:nvPr>
        </p:nvSpPr>
        <p:spPr>
          <a:xfrm>
            <a:off x="16552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5"/>
          </p:nvPr>
        </p:nvSpPr>
        <p:spPr>
          <a:xfrm>
            <a:off x="50010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500100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7"/>
          </p:nvPr>
        </p:nvSpPr>
        <p:spPr>
          <a:xfrm>
            <a:off x="16552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8"/>
          </p:nvPr>
        </p:nvSpPr>
        <p:spPr>
          <a:xfrm>
            <a:off x="165525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9" hasCustomPrompt="1"/>
          </p:nvPr>
        </p:nvSpPr>
        <p:spPr>
          <a:xfrm>
            <a:off x="23786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 hasCustomPrompt="1"/>
          </p:nvPr>
        </p:nvSpPr>
        <p:spPr>
          <a:xfrm>
            <a:off x="57244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237870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15" hasCustomPrompt="1"/>
          </p:nvPr>
        </p:nvSpPr>
        <p:spPr>
          <a:xfrm>
            <a:off x="572445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87" name="Google Shape;87;p1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1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1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7200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title" idx="2" hasCustomPrompt="1"/>
          </p:nvPr>
        </p:nvSpPr>
        <p:spPr>
          <a:xfrm>
            <a:off x="14826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1"/>
          </p:nvPr>
        </p:nvSpPr>
        <p:spPr>
          <a:xfrm>
            <a:off x="720000" y="2081199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title" idx="3"/>
          </p:nvPr>
        </p:nvSpPr>
        <p:spPr>
          <a:xfrm>
            <a:off x="34038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title" idx="4" hasCustomPrompt="1"/>
          </p:nvPr>
        </p:nvSpPr>
        <p:spPr>
          <a:xfrm>
            <a:off x="41664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5" name="Google Shape;95;p14"/>
          <p:cNvSpPr txBox="1">
            <a:spLocks noGrp="1"/>
          </p:cNvSpPr>
          <p:nvPr>
            <p:ph type="subTitle" idx="5"/>
          </p:nvPr>
        </p:nvSpPr>
        <p:spPr>
          <a:xfrm>
            <a:off x="34038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title" idx="6"/>
          </p:nvPr>
        </p:nvSpPr>
        <p:spPr>
          <a:xfrm>
            <a:off x="60876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 idx="7" hasCustomPrompt="1"/>
          </p:nvPr>
        </p:nvSpPr>
        <p:spPr>
          <a:xfrm>
            <a:off x="68502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8"/>
          </p:nvPr>
        </p:nvSpPr>
        <p:spPr>
          <a:xfrm>
            <a:off x="60876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 idx="9"/>
          </p:nvPr>
        </p:nvSpPr>
        <p:spPr>
          <a:xfrm>
            <a:off x="7200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13" hasCustomPrompt="1"/>
          </p:nvPr>
        </p:nvSpPr>
        <p:spPr>
          <a:xfrm>
            <a:off x="14826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4"/>
          </p:nvPr>
        </p:nvSpPr>
        <p:spPr>
          <a:xfrm>
            <a:off x="7200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idx="15"/>
          </p:nvPr>
        </p:nvSpPr>
        <p:spPr>
          <a:xfrm>
            <a:off x="34038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16" hasCustomPrompt="1"/>
          </p:nvPr>
        </p:nvSpPr>
        <p:spPr>
          <a:xfrm>
            <a:off x="41664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17"/>
          </p:nvPr>
        </p:nvSpPr>
        <p:spPr>
          <a:xfrm>
            <a:off x="34038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18"/>
          </p:nvPr>
        </p:nvSpPr>
        <p:spPr>
          <a:xfrm>
            <a:off x="60876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19" hasCustomPrompt="1"/>
          </p:nvPr>
        </p:nvSpPr>
        <p:spPr>
          <a:xfrm>
            <a:off x="68502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20"/>
          </p:nvPr>
        </p:nvSpPr>
        <p:spPr>
          <a:xfrm>
            <a:off x="60876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title" idx="21"/>
          </p:nvPr>
        </p:nvSpPr>
        <p:spPr>
          <a:xfrm>
            <a:off x="2332400" y="445025"/>
            <a:ext cx="447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09" name="Google Shape;109;p1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" name="Google Shape;110;p1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111;p1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" name="Google Shape;112;p1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ubTitle" idx="1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6" name="Google Shape;116;p1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1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699900" y="282126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subTitle" idx="1"/>
          </p:nvPr>
        </p:nvSpPr>
        <p:spPr>
          <a:xfrm>
            <a:off x="699900" y="1675902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1" name="Google Shape;121;p1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1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1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6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>
            <a:spLocks noGrp="1"/>
          </p:cNvSpPr>
          <p:nvPr>
            <p:ph type="subTitle" idx="1"/>
          </p:nvPr>
        </p:nvSpPr>
        <p:spPr>
          <a:xfrm>
            <a:off x="264840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28" name="Google Shape;128;p1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" name="Google Shape;129;p1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" name="Google Shape;130;p1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1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SECTION_TITLE_AND_DESCRIPTION_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35" name="Google Shape;135;p1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" name="Google Shape;136;p1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" name="Google Shape;137;p18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3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845550" y="1482825"/>
            <a:ext cx="7452900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2299500" y="2972150"/>
            <a:ext cx="4545000" cy="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cxnSp>
        <p:nvCxnSpPr>
          <p:cNvPr id="141" name="Google Shape;141;p1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" name="Google Shape;142;p1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4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>
            <a:spLocks noGrp="1"/>
          </p:cNvSpPr>
          <p:nvPr>
            <p:ph type="title"/>
          </p:nvPr>
        </p:nvSpPr>
        <p:spPr>
          <a:xfrm>
            <a:off x="3742850" y="1549875"/>
            <a:ext cx="4545000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145" name="Google Shape;145;p20"/>
          <p:cNvSpPr txBox="1">
            <a:spLocks noGrp="1"/>
          </p:cNvSpPr>
          <p:nvPr>
            <p:ph type="subTitle" idx="1"/>
          </p:nvPr>
        </p:nvSpPr>
        <p:spPr>
          <a:xfrm>
            <a:off x="3742850" y="3039213"/>
            <a:ext cx="4545000" cy="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cxnSp>
        <p:nvCxnSpPr>
          <p:cNvPr id="146" name="Google Shape;146;p2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7" name="Google Shape;147;p2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" name="Google Shape;148;p20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" name="Google Shape;149;p20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0" name="Google Shape;150;p20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" name="Google Shape;151;p20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5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>
            <a:spLocks noGrp="1"/>
          </p:cNvSpPr>
          <p:nvPr>
            <p:ph type="title"/>
          </p:nvPr>
        </p:nvSpPr>
        <p:spPr>
          <a:xfrm>
            <a:off x="427325" y="2511800"/>
            <a:ext cx="4965600" cy="1113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4" name="Google Shape;154;p21"/>
          <p:cNvSpPr txBox="1">
            <a:spLocks noGrp="1"/>
          </p:cNvSpPr>
          <p:nvPr>
            <p:ph type="title" idx="2" hasCustomPrompt="1"/>
          </p:nvPr>
        </p:nvSpPr>
        <p:spPr>
          <a:xfrm>
            <a:off x="3741925" y="148469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155" name="Google Shape;155;p21"/>
          <p:cNvSpPr txBox="1">
            <a:spLocks noGrp="1"/>
          </p:cNvSpPr>
          <p:nvPr>
            <p:ph type="subTitle" idx="1"/>
          </p:nvPr>
        </p:nvSpPr>
        <p:spPr>
          <a:xfrm>
            <a:off x="831625" y="3625000"/>
            <a:ext cx="4561200" cy="3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56" name="Google Shape;156;p21"/>
          <p:cNvCxnSpPr/>
          <p:nvPr/>
        </p:nvCxnSpPr>
        <p:spPr>
          <a:xfrm rot="10800000">
            <a:off x="-30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" name="Google Shape;157;p21"/>
          <p:cNvCxnSpPr/>
          <p:nvPr/>
        </p:nvCxnSpPr>
        <p:spPr>
          <a:xfrm rot="10800000">
            <a:off x="-30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" name="Google Shape;158;p21"/>
          <p:cNvCxnSpPr/>
          <p:nvPr/>
        </p:nvCxnSpPr>
        <p:spPr>
          <a:xfrm>
            <a:off x="-112875" y="3979775"/>
            <a:ext cx="1378500" cy="12363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" name="Google Shape;159;p21"/>
          <p:cNvCxnSpPr/>
          <p:nvPr/>
        </p:nvCxnSpPr>
        <p:spPr>
          <a:xfrm>
            <a:off x="7908725" y="-88700"/>
            <a:ext cx="1418700" cy="1064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62" name="Google Shape;162;p2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3" name="Google Shape;163;p2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" name="Google Shape;164;p22"/>
          <p:cNvCxnSpPr/>
          <p:nvPr/>
        </p:nvCxnSpPr>
        <p:spPr>
          <a:xfrm>
            <a:off x="7207350" y="-153175"/>
            <a:ext cx="2120400" cy="12738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6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6" name="Google Shape;166;p2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" name="Google Shape;167;p2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" name="Google Shape;168;p2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169;p2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170;p2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171;p23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2" name="Google Shape;172;p2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7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>
            <a:spLocks noGrp="1"/>
          </p:cNvSpPr>
          <p:nvPr>
            <p:ph type="title"/>
          </p:nvPr>
        </p:nvSpPr>
        <p:spPr>
          <a:xfrm>
            <a:off x="1877475" y="445025"/>
            <a:ext cx="538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24"/>
          <p:cNvSpPr txBox="1">
            <a:spLocks noGrp="1"/>
          </p:cNvSpPr>
          <p:nvPr>
            <p:ph type="subTitle" idx="1"/>
          </p:nvPr>
        </p:nvSpPr>
        <p:spPr>
          <a:xfrm>
            <a:off x="3226708" y="1405390"/>
            <a:ext cx="24861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176" name="Google Shape;176;p24"/>
          <p:cNvSpPr txBox="1">
            <a:spLocks noGrp="1"/>
          </p:cNvSpPr>
          <p:nvPr>
            <p:ph type="subTitle" idx="2"/>
          </p:nvPr>
        </p:nvSpPr>
        <p:spPr>
          <a:xfrm>
            <a:off x="3226708" y="180641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4"/>
          <p:cNvSpPr txBox="1">
            <a:spLocks noGrp="1"/>
          </p:cNvSpPr>
          <p:nvPr>
            <p:ph type="subTitle" idx="3"/>
          </p:nvPr>
        </p:nvSpPr>
        <p:spPr>
          <a:xfrm>
            <a:off x="719108" y="1405390"/>
            <a:ext cx="24861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178" name="Google Shape;178;p24"/>
          <p:cNvSpPr txBox="1">
            <a:spLocks noGrp="1"/>
          </p:cNvSpPr>
          <p:nvPr>
            <p:ph type="subTitle" idx="4"/>
          </p:nvPr>
        </p:nvSpPr>
        <p:spPr>
          <a:xfrm>
            <a:off x="719108" y="180641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4"/>
          <p:cNvSpPr txBox="1">
            <a:spLocks noGrp="1"/>
          </p:cNvSpPr>
          <p:nvPr>
            <p:ph type="subTitle" idx="5"/>
          </p:nvPr>
        </p:nvSpPr>
        <p:spPr>
          <a:xfrm>
            <a:off x="3226708" y="3171118"/>
            <a:ext cx="2486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180" name="Google Shape;180;p24"/>
          <p:cNvSpPr txBox="1">
            <a:spLocks noGrp="1"/>
          </p:cNvSpPr>
          <p:nvPr>
            <p:ph type="subTitle" idx="6"/>
          </p:nvPr>
        </p:nvSpPr>
        <p:spPr>
          <a:xfrm>
            <a:off x="3226708" y="356548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4"/>
          <p:cNvSpPr txBox="1">
            <a:spLocks noGrp="1"/>
          </p:cNvSpPr>
          <p:nvPr>
            <p:ph type="subTitle" idx="7"/>
          </p:nvPr>
        </p:nvSpPr>
        <p:spPr>
          <a:xfrm>
            <a:off x="719108" y="3171118"/>
            <a:ext cx="2486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182" name="Google Shape;182;p24"/>
          <p:cNvSpPr txBox="1">
            <a:spLocks noGrp="1"/>
          </p:cNvSpPr>
          <p:nvPr>
            <p:ph type="subTitle" idx="8"/>
          </p:nvPr>
        </p:nvSpPr>
        <p:spPr>
          <a:xfrm>
            <a:off x="719158" y="356548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83" name="Google Shape;183;p2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" name="Google Shape;184;p2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8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6" name="Google Shape;186;p2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" name="Google Shape;187;p2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8" name="Google Shape;188;p25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" name="Google Shape;189;p25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0" name="Google Shape;190;p25"/>
          <p:cNvSpPr txBox="1">
            <a:spLocks noGrp="1"/>
          </p:cNvSpPr>
          <p:nvPr>
            <p:ph type="body" idx="1"/>
          </p:nvPr>
        </p:nvSpPr>
        <p:spPr>
          <a:xfrm>
            <a:off x="5547900" y="3007750"/>
            <a:ext cx="2883000" cy="15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000">
                <a:latin typeface="Vidaloka"/>
                <a:ea typeface="Vidaloka"/>
                <a:cs typeface="Vidaloka"/>
                <a:sym typeface="Vidaloka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000">
                <a:latin typeface="Vidaloka"/>
                <a:ea typeface="Vidaloka"/>
                <a:cs typeface="Vidaloka"/>
                <a:sym typeface="Vidaloka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CUSTOM_19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>
            <a:spLocks noGrp="1"/>
          </p:cNvSpPr>
          <p:nvPr>
            <p:ph type="title" hasCustomPrompt="1"/>
          </p:nvPr>
        </p:nvSpPr>
        <p:spPr>
          <a:xfrm>
            <a:off x="713225" y="1345375"/>
            <a:ext cx="6120300" cy="16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3" name="Google Shape;193;p26"/>
          <p:cNvSpPr txBox="1">
            <a:spLocks noGrp="1"/>
          </p:cNvSpPr>
          <p:nvPr>
            <p:ph type="subTitle" idx="1"/>
          </p:nvPr>
        </p:nvSpPr>
        <p:spPr>
          <a:xfrm>
            <a:off x="713225" y="3188648"/>
            <a:ext cx="61203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194" name="Google Shape;194;p2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2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26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2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>
            <a:spLocks noGrp="1"/>
          </p:cNvSpPr>
          <p:nvPr>
            <p:ph type="title"/>
          </p:nvPr>
        </p:nvSpPr>
        <p:spPr>
          <a:xfrm>
            <a:off x="4346500" y="2467375"/>
            <a:ext cx="4083600" cy="120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0" name="Google Shape;200;p27"/>
          <p:cNvSpPr txBox="1">
            <a:spLocks noGrp="1"/>
          </p:cNvSpPr>
          <p:nvPr>
            <p:ph type="title" idx="2" hasCustomPrompt="1"/>
          </p:nvPr>
        </p:nvSpPr>
        <p:spPr>
          <a:xfrm>
            <a:off x="4956100" y="1021325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201" name="Google Shape;201;p27"/>
          <p:cNvSpPr txBox="1">
            <a:spLocks noGrp="1"/>
          </p:cNvSpPr>
          <p:nvPr>
            <p:ph type="subTitle" idx="1"/>
          </p:nvPr>
        </p:nvSpPr>
        <p:spPr>
          <a:xfrm>
            <a:off x="4346500" y="3649675"/>
            <a:ext cx="4083600" cy="62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02" name="Google Shape;202;p2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" name="Google Shape;203;p2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" name="Google Shape;204;p27"/>
          <p:cNvCxnSpPr/>
          <p:nvPr/>
        </p:nvCxnSpPr>
        <p:spPr>
          <a:xfrm>
            <a:off x="-209600" y="2402450"/>
            <a:ext cx="3144300" cy="27897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20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>
            <a:spLocks noGrp="1"/>
          </p:cNvSpPr>
          <p:nvPr>
            <p:ph type="title"/>
          </p:nvPr>
        </p:nvSpPr>
        <p:spPr>
          <a:xfrm>
            <a:off x="4373850" y="944250"/>
            <a:ext cx="4009500" cy="64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7" name="Google Shape;207;p28"/>
          <p:cNvSpPr txBox="1">
            <a:spLocks noGrp="1"/>
          </p:cNvSpPr>
          <p:nvPr>
            <p:ph type="title" idx="2" hasCustomPrompt="1"/>
          </p:nvPr>
        </p:nvSpPr>
        <p:spPr>
          <a:xfrm>
            <a:off x="2294850" y="1096650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208" name="Google Shape;208;p28"/>
          <p:cNvSpPr txBox="1">
            <a:spLocks noGrp="1"/>
          </p:cNvSpPr>
          <p:nvPr>
            <p:ph type="subTitle" idx="1"/>
          </p:nvPr>
        </p:nvSpPr>
        <p:spPr>
          <a:xfrm>
            <a:off x="4373850" y="1593150"/>
            <a:ext cx="2475300" cy="62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09" name="Google Shape;209;p2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" name="Google Shape;210;p2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" name="Google Shape;211;p28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2" name="Google Shape;212;p28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3" name="Google Shape;213;p28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" name="Google Shape;214;p28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3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>
            <a:spLocks noGrp="1"/>
          </p:cNvSpPr>
          <p:nvPr>
            <p:ph type="title"/>
          </p:nvPr>
        </p:nvSpPr>
        <p:spPr>
          <a:xfrm>
            <a:off x="1043725" y="922567"/>
            <a:ext cx="3123000" cy="22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29"/>
          <p:cNvSpPr txBox="1">
            <a:spLocks noGrp="1"/>
          </p:cNvSpPr>
          <p:nvPr>
            <p:ph type="subTitle" idx="1"/>
          </p:nvPr>
        </p:nvSpPr>
        <p:spPr>
          <a:xfrm>
            <a:off x="1043725" y="3360938"/>
            <a:ext cx="3013500" cy="7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218" name="Google Shape;218;p2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" name="Google Shape;219;p2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" name="Google Shape;220;p29"/>
          <p:cNvCxnSpPr/>
          <p:nvPr/>
        </p:nvCxnSpPr>
        <p:spPr>
          <a:xfrm>
            <a:off x="5322650" y="-80625"/>
            <a:ext cx="4005000" cy="20073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21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 txBox="1">
            <a:spLocks noGrp="1"/>
          </p:cNvSpPr>
          <p:nvPr>
            <p:ph type="title"/>
          </p:nvPr>
        </p:nvSpPr>
        <p:spPr>
          <a:xfrm>
            <a:off x="5310925" y="962565"/>
            <a:ext cx="3123000" cy="22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30"/>
          <p:cNvSpPr txBox="1">
            <a:spLocks noGrp="1"/>
          </p:cNvSpPr>
          <p:nvPr>
            <p:ph type="subTitle" idx="1"/>
          </p:nvPr>
        </p:nvSpPr>
        <p:spPr>
          <a:xfrm>
            <a:off x="5310925" y="3400935"/>
            <a:ext cx="3013500" cy="7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224" name="Google Shape;224;p3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5" name="Google Shape;225;p3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6" name="Google Shape;226;p30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7" name="Google Shape;227;p30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8" name="Google Shape;228;p30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9" name="Google Shape;229;p30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4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1"/>
          <p:cNvSpPr txBox="1">
            <a:spLocks noGrp="1"/>
          </p:cNvSpPr>
          <p:nvPr>
            <p:ph type="subTitle" idx="1"/>
          </p:nvPr>
        </p:nvSpPr>
        <p:spPr>
          <a:xfrm>
            <a:off x="3509000" y="25320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32" name="Google Shape;232;p31"/>
          <p:cNvSpPr txBox="1">
            <a:spLocks noGrp="1"/>
          </p:cNvSpPr>
          <p:nvPr>
            <p:ph type="subTitle" idx="2"/>
          </p:nvPr>
        </p:nvSpPr>
        <p:spPr>
          <a:xfrm>
            <a:off x="3509025" y="2948247"/>
            <a:ext cx="2126100" cy="8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31"/>
          <p:cNvSpPr txBox="1">
            <a:spLocks noGrp="1"/>
          </p:cNvSpPr>
          <p:nvPr>
            <p:ph type="subTitle" idx="3"/>
          </p:nvPr>
        </p:nvSpPr>
        <p:spPr>
          <a:xfrm>
            <a:off x="953025" y="25320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34" name="Google Shape;234;p31"/>
          <p:cNvSpPr txBox="1">
            <a:spLocks noGrp="1"/>
          </p:cNvSpPr>
          <p:nvPr>
            <p:ph type="subTitle" idx="4"/>
          </p:nvPr>
        </p:nvSpPr>
        <p:spPr>
          <a:xfrm>
            <a:off x="953125" y="2948247"/>
            <a:ext cx="2126100" cy="8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31"/>
          <p:cNvSpPr txBox="1">
            <a:spLocks noGrp="1"/>
          </p:cNvSpPr>
          <p:nvPr>
            <p:ph type="subTitle" idx="5"/>
          </p:nvPr>
        </p:nvSpPr>
        <p:spPr>
          <a:xfrm>
            <a:off x="6064875" y="25320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36" name="Google Shape;236;p31"/>
          <p:cNvSpPr txBox="1">
            <a:spLocks noGrp="1"/>
          </p:cNvSpPr>
          <p:nvPr>
            <p:ph type="subTitle" idx="6"/>
          </p:nvPr>
        </p:nvSpPr>
        <p:spPr>
          <a:xfrm>
            <a:off x="6064875" y="2948247"/>
            <a:ext cx="2126100" cy="8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3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cxnSp>
        <p:nvCxnSpPr>
          <p:cNvPr id="238" name="Google Shape;238;p3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9" name="Google Shape;239;p3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22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 txBox="1">
            <a:spLocks noGrp="1"/>
          </p:cNvSpPr>
          <p:nvPr>
            <p:ph type="subTitle" idx="1"/>
          </p:nvPr>
        </p:nvSpPr>
        <p:spPr>
          <a:xfrm>
            <a:off x="3509000" y="16938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42" name="Google Shape;242;p32"/>
          <p:cNvSpPr txBox="1">
            <a:spLocks noGrp="1"/>
          </p:cNvSpPr>
          <p:nvPr>
            <p:ph type="subTitle" idx="2"/>
          </p:nvPr>
        </p:nvSpPr>
        <p:spPr>
          <a:xfrm>
            <a:off x="3509025" y="2110049"/>
            <a:ext cx="212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32"/>
          <p:cNvSpPr txBox="1">
            <a:spLocks noGrp="1"/>
          </p:cNvSpPr>
          <p:nvPr>
            <p:ph type="subTitle" idx="3"/>
          </p:nvPr>
        </p:nvSpPr>
        <p:spPr>
          <a:xfrm>
            <a:off x="953025" y="16938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44" name="Google Shape;244;p32"/>
          <p:cNvSpPr txBox="1">
            <a:spLocks noGrp="1"/>
          </p:cNvSpPr>
          <p:nvPr>
            <p:ph type="subTitle" idx="4"/>
          </p:nvPr>
        </p:nvSpPr>
        <p:spPr>
          <a:xfrm>
            <a:off x="953125" y="2110049"/>
            <a:ext cx="212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2"/>
          <p:cNvSpPr txBox="1">
            <a:spLocks noGrp="1"/>
          </p:cNvSpPr>
          <p:nvPr>
            <p:ph type="subTitle" idx="5"/>
          </p:nvPr>
        </p:nvSpPr>
        <p:spPr>
          <a:xfrm>
            <a:off x="6064875" y="16938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46" name="Google Shape;246;p32"/>
          <p:cNvSpPr txBox="1">
            <a:spLocks noGrp="1"/>
          </p:cNvSpPr>
          <p:nvPr>
            <p:ph type="subTitle" idx="6"/>
          </p:nvPr>
        </p:nvSpPr>
        <p:spPr>
          <a:xfrm>
            <a:off x="6064875" y="2110049"/>
            <a:ext cx="212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32"/>
          <p:cNvSpPr txBox="1">
            <a:spLocks noGrp="1"/>
          </p:cNvSpPr>
          <p:nvPr>
            <p:ph type="title"/>
          </p:nvPr>
        </p:nvSpPr>
        <p:spPr>
          <a:xfrm>
            <a:off x="1244250" y="445025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sp>
        <p:nvSpPr>
          <p:cNvPr id="248" name="Google Shape;248;p32"/>
          <p:cNvSpPr txBox="1">
            <a:spLocks noGrp="1"/>
          </p:cNvSpPr>
          <p:nvPr>
            <p:ph type="subTitle" idx="7"/>
          </p:nvPr>
        </p:nvSpPr>
        <p:spPr>
          <a:xfrm>
            <a:off x="3509000" y="33987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49" name="Google Shape;249;p32"/>
          <p:cNvSpPr txBox="1">
            <a:spLocks noGrp="1"/>
          </p:cNvSpPr>
          <p:nvPr>
            <p:ph type="subTitle" idx="8"/>
          </p:nvPr>
        </p:nvSpPr>
        <p:spPr>
          <a:xfrm>
            <a:off x="3509025" y="3814949"/>
            <a:ext cx="212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32"/>
          <p:cNvSpPr txBox="1">
            <a:spLocks noGrp="1"/>
          </p:cNvSpPr>
          <p:nvPr>
            <p:ph type="subTitle" idx="9"/>
          </p:nvPr>
        </p:nvSpPr>
        <p:spPr>
          <a:xfrm>
            <a:off x="953025" y="33987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51" name="Google Shape;251;p32"/>
          <p:cNvSpPr txBox="1">
            <a:spLocks noGrp="1"/>
          </p:cNvSpPr>
          <p:nvPr>
            <p:ph type="subTitle" idx="13"/>
          </p:nvPr>
        </p:nvSpPr>
        <p:spPr>
          <a:xfrm>
            <a:off x="953125" y="3814949"/>
            <a:ext cx="212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32"/>
          <p:cNvSpPr txBox="1">
            <a:spLocks noGrp="1"/>
          </p:cNvSpPr>
          <p:nvPr>
            <p:ph type="subTitle" idx="14"/>
          </p:nvPr>
        </p:nvSpPr>
        <p:spPr>
          <a:xfrm>
            <a:off x="6064875" y="33987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53" name="Google Shape;253;p32"/>
          <p:cNvSpPr txBox="1">
            <a:spLocks noGrp="1"/>
          </p:cNvSpPr>
          <p:nvPr>
            <p:ph type="subTitle" idx="15"/>
          </p:nvPr>
        </p:nvSpPr>
        <p:spPr>
          <a:xfrm>
            <a:off x="6064875" y="3814949"/>
            <a:ext cx="212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54" name="Google Shape;254;p3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5" name="Google Shape;255;p3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6" name="Google Shape;256;p32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7" name="Google Shape;257;p32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CUSTOM_32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"/>
          <p:cNvSpPr txBox="1">
            <a:spLocks noGrp="1"/>
          </p:cNvSpPr>
          <p:nvPr>
            <p:ph type="subTitle" idx="1"/>
          </p:nvPr>
        </p:nvSpPr>
        <p:spPr>
          <a:xfrm>
            <a:off x="3414050" y="1714429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60" name="Google Shape;260;p33"/>
          <p:cNvSpPr txBox="1">
            <a:spLocks noGrp="1"/>
          </p:cNvSpPr>
          <p:nvPr>
            <p:ph type="subTitle" idx="2"/>
          </p:nvPr>
        </p:nvSpPr>
        <p:spPr>
          <a:xfrm>
            <a:off x="3564200" y="2124122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33"/>
          <p:cNvSpPr txBox="1">
            <a:spLocks noGrp="1"/>
          </p:cNvSpPr>
          <p:nvPr>
            <p:ph type="subTitle" idx="3"/>
          </p:nvPr>
        </p:nvSpPr>
        <p:spPr>
          <a:xfrm>
            <a:off x="705725" y="1714429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62" name="Google Shape;262;p33"/>
          <p:cNvSpPr txBox="1">
            <a:spLocks noGrp="1"/>
          </p:cNvSpPr>
          <p:nvPr>
            <p:ph type="subTitle" idx="4"/>
          </p:nvPr>
        </p:nvSpPr>
        <p:spPr>
          <a:xfrm>
            <a:off x="855875" y="2124122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33"/>
          <p:cNvSpPr txBox="1">
            <a:spLocks noGrp="1"/>
          </p:cNvSpPr>
          <p:nvPr>
            <p:ph type="subTitle" idx="5"/>
          </p:nvPr>
        </p:nvSpPr>
        <p:spPr>
          <a:xfrm>
            <a:off x="6122325" y="1714429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64" name="Google Shape;264;p33"/>
          <p:cNvSpPr txBox="1">
            <a:spLocks noGrp="1"/>
          </p:cNvSpPr>
          <p:nvPr>
            <p:ph type="subTitle" idx="6"/>
          </p:nvPr>
        </p:nvSpPr>
        <p:spPr>
          <a:xfrm>
            <a:off x="6272475" y="2124122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33"/>
          <p:cNvSpPr txBox="1">
            <a:spLocks noGrp="1"/>
          </p:cNvSpPr>
          <p:nvPr>
            <p:ph type="subTitle" idx="7"/>
          </p:nvPr>
        </p:nvSpPr>
        <p:spPr>
          <a:xfrm>
            <a:off x="3414050" y="3453326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66" name="Google Shape;266;p33"/>
          <p:cNvSpPr txBox="1">
            <a:spLocks noGrp="1"/>
          </p:cNvSpPr>
          <p:nvPr>
            <p:ph type="subTitle" idx="8"/>
          </p:nvPr>
        </p:nvSpPr>
        <p:spPr>
          <a:xfrm>
            <a:off x="3564200" y="3869536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33"/>
          <p:cNvSpPr txBox="1">
            <a:spLocks noGrp="1"/>
          </p:cNvSpPr>
          <p:nvPr>
            <p:ph type="subTitle" idx="9"/>
          </p:nvPr>
        </p:nvSpPr>
        <p:spPr>
          <a:xfrm>
            <a:off x="705725" y="3453326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68" name="Google Shape;268;p33"/>
          <p:cNvSpPr txBox="1">
            <a:spLocks noGrp="1"/>
          </p:cNvSpPr>
          <p:nvPr>
            <p:ph type="subTitle" idx="13"/>
          </p:nvPr>
        </p:nvSpPr>
        <p:spPr>
          <a:xfrm>
            <a:off x="855875" y="3869536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33"/>
          <p:cNvSpPr txBox="1">
            <a:spLocks noGrp="1"/>
          </p:cNvSpPr>
          <p:nvPr>
            <p:ph type="subTitle" idx="14"/>
          </p:nvPr>
        </p:nvSpPr>
        <p:spPr>
          <a:xfrm>
            <a:off x="6122325" y="3453326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70" name="Google Shape;270;p33"/>
          <p:cNvSpPr txBox="1">
            <a:spLocks noGrp="1"/>
          </p:cNvSpPr>
          <p:nvPr>
            <p:ph type="subTitle" idx="15"/>
          </p:nvPr>
        </p:nvSpPr>
        <p:spPr>
          <a:xfrm>
            <a:off x="6272475" y="3869536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3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608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cxnSp>
        <p:nvCxnSpPr>
          <p:cNvPr id="272" name="Google Shape;272;p3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3" name="Google Shape;273;p3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CUSTOM_33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4"/>
          <p:cNvSpPr txBox="1">
            <a:spLocks noGrp="1"/>
          </p:cNvSpPr>
          <p:nvPr>
            <p:ph type="subTitle" idx="1"/>
          </p:nvPr>
        </p:nvSpPr>
        <p:spPr>
          <a:xfrm>
            <a:off x="3414050" y="1714429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76" name="Google Shape;276;p34"/>
          <p:cNvSpPr txBox="1">
            <a:spLocks noGrp="1"/>
          </p:cNvSpPr>
          <p:nvPr>
            <p:ph type="subTitle" idx="2"/>
          </p:nvPr>
        </p:nvSpPr>
        <p:spPr>
          <a:xfrm>
            <a:off x="3564200" y="2124122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34"/>
          <p:cNvSpPr txBox="1">
            <a:spLocks noGrp="1"/>
          </p:cNvSpPr>
          <p:nvPr>
            <p:ph type="subTitle" idx="3"/>
          </p:nvPr>
        </p:nvSpPr>
        <p:spPr>
          <a:xfrm>
            <a:off x="705725" y="1714429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78" name="Google Shape;278;p34"/>
          <p:cNvSpPr txBox="1">
            <a:spLocks noGrp="1"/>
          </p:cNvSpPr>
          <p:nvPr>
            <p:ph type="subTitle" idx="4"/>
          </p:nvPr>
        </p:nvSpPr>
        <p:spPr>
          <a:xfrm>
            <a:off x="855875" y="2124122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34"/>
          <p:cNvSpPr txBox="1">
            <a:spLocks noGrp="1"/>
          </p:cNvSpPr>
          <p:nvPr>
            <p:ph type="subTitle" idx="5"/>
          </p:nvPr>
        </p:nvSpPr>
        <p:spPr>
          <a:xfrm>
            <a:off x="6122325" y="1714429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80" name="Google Shape;280;p34"/>
          <p:cNvSpPr txBox="1">
            <a:spLocks noGrp="1"/>
          </p:cNvSpPr>
          <p:nvPr>
            <p:ph type="subTitle" idx="6"/>
          </p:nvPr>
        </p:nvSpPr>
        <p:spPr>
          <a:xfrm>
            <a:off x="6272475" y="2124122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34"/>
          <p:cNvSpPr txBox="1">
            <a:spLocks noGrp="1"/>
          </p:cNvSpPr>
          <p:nvPr>
            <p:ph type="subTitle" idx="7"/>
          </p:nvPr>
        </p:nvSpPr>
        <p:spPr>
          <a:xfrm>
            <a:off x="2059863" y="3148526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82" name="Google Shape;282;p34"/>
          <p:cNvSpPr txBox="1">
            <a:spLocks noGrp="1"/>
          </p:cNvSpPr>
          <p:nvPr>
            <p:ph type="subTitle" idx="8"/>
          </p:nvPr>
        </p:nvSpPr>
        <p:spPr>
          <a:xfrm>
            <a:off x="2210013" y="3564736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34"/>
          <p:cNvSpPr txBox="1">
            <a:spLocks noGrp="1"/>
          </p:cNvSpPr>
          <p:nvPr>
            <p:ph type="subTitle" idx="9"/>
          </p:nvPr>
        </p:nvSpPr>
        <p:spPr>
          <a:xfrm>
            <a:off x="4768138" y="3148526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84" name="Google Shape;284;p34"/>
          <p:cNvSpPr txBox="1">
            <a:spLocks noGrp="1"/>
          </p:cNvSpPr>
          <p:nvPr>
            <p:ph type="subTitle" idx="13"/>
          </p:nvPr>
        </p:nvSpPr>
        <p:spPr>
          <a:xfrm>
            <a:off x="4918288" y="3564736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34"/>
          <p:cNvSpPr txBox="1">
            <a:spLocks noGrp="1"/>
          </p:cNvSpPr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cxnSp>
        <p:nvCxnSpPr>
          <p:cNvPr id="286" name="Google Shape;286;p3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" name="Google Shape;287;p3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8" name="Google Shape;288;p3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9" name="Google Shape;289;p3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34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5"/>
          <p:cNvSpPr txBox="1">
            <a:spLocks noGrp="1"/>
          </p:cNvSpPr>
          <p:nvPr>
            <p:ph type="title"/>
          </p:nvPr>
        </p:nvSpPr>
        <p:spPr>
          <a:xfrm>
            <a:off x="716225" y="1073000"/>
            <a:ext cx="5640600" cy="285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cxnSp>
        <p:nvCxnSpPr>
          <p:cNvPr id="292" name="Google Shape;292;p3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3" name="Google Shape;293;p3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4" name="Google Shape;294;p35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5" name="Google Shape;295;p35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6" name="Google Shape;296;p35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7" name="Google Shape;297;p35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35"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6"/>
          <p:cNvSpPr txBox="1">
            <a:spLocks noGrp="1"/>
          </p:cNvSpPr>
          <p:nvPr>
            <p:ph type="subTitle" idx="1"/>
          </p:nvPr>
        </p:nvSpPr>
        <p:spPr>
          <a:xfrm>
            <a:off x="4916850" y="1894200"/>
            <a:ext cx="2316000" cy="4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00" name="Google Shape;300;p36"/>
          <p:cNvSpPr txBox="1">
            <a:spLocks noGrp="1"/>
          </p:cNvSpPr>
          <p:nvPr>
            <p:ph type="subTitle" idx="2"/>
          </p:nvPr>
        </p:nvSpPr>
        <p:spPr>
          <a:xfrm>
            <a:off x="5058900" y="2296473"/>
            <a:ext cx="2031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36"/>
          <p:cNvSpPr txBox="1">
            <a:spLocks noGrp="1"/>
          </p:cNvSpPr>
          <p:nvPr>
            <p:ph type="subTitle" idx="3"/>
          </p:nvPr>
        </p:nvSpPr>
        <p:spPr>
          <a:xfrm>
            <a:off x="1911150" y="1894200"/>
            <a:ext cx="2316000" cy="4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02" name="Google Shape;302;p36"/>
          <p:cNvSpPr txBox="1">
            <a:spLocks noGrp="1"/>
          </p:cNvSpPr>
          <p:nvPr>
            <p:ph type="subTitle" idx="4"/>
          </p:nvPr>
        </p:nvSpPr>
        <p:spPr>
          <a:xfrm>
            <a:off x="2053300" y="2296473"/>
            <a:ext cx="2031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36"/>
          <p:cNvSpPr txBox="1">
            <a:spLocks noGrp="1"/>
          </p:cNvSpPr>
          <p:nvPr>
            <p:ph type="subTitle" idx="5"/>
          </p:nvPr>
        </p:nvSpPr>
        <p:spPr>
          <a:xfrm>
            <a:off x="4916850" y="3528902"/>
            <a:ext cx="2316000" cy="4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04" name="Google Shape;304;p36"/>
          <p:cNvSpPr txBox="1">
            <a:spLocks noGrp="1"/>
          </p:cNvSpPr>
          <p:nvPr>
            <p:ph type="subTitle" idx="6"/>
          </p:nvPr>
        </p:nvSpPr>
        <p:spPr>
          <a:xfrm>
            <a:off x="5058900" y="3923733"/>
            <a:ext cx="2031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36"/>
          <p:cNvSpPr txBox="1">
            <a:spLocks noGrp="1"/>
          </p:cNvSpPr>
          <p:nvPr>
            <p:ph type="subTitle" idx="7"/>
          </p:nvPr>
        </p:nvSpPr>
        <p:spPr>
          <a:xfrm>
            <a:off x="1911150" y="3528902"/>
            <a:ext cx="2316000" cy="4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06" name="Google Shape;306;p36"/>
          <p:cNvSpPr txBox="1">
            <a:spLocks noGrp="1"/>
          </p:cNvSpPr>
          <p:nvPr>
            <p:ph type="subTitle" idx="8"/>
          </p:nvPr>
        </p:nvSpPr>
        <p:spPr>
          <a:xfrm>
            <a:off x="2053200" y="3923733"/>
            <a:ext cx="2031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3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648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cxnSp>
        <p:nvCxnSpPr>
          <p:cNvPr id="308" name="Google Shape;308;p3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9" name="Google Shape;309;p3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36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7"/>
          <p:cNvSpPr txBox="1">
            <a:spLocks noGrp="1"/>
          </p:cNvSpPr>
          <p:nvPr>
            <p:ph type="subTitle" idx="1"/>
          </p:nvPr>
        </p:nvSpPr>
        <p:spPr>
          <a:xfrm>
            <a:off x="3571925" y="2904446"/>
            <a:ext cx="2015400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12" name="Google Shape;312;p37"/>
          <p:cNvSpPr txBox="1">
            <a:spLocks noGrp="1"/>
          </p:cNvSpPr>
          <p:nvPr>
            <p:ph type="subTitle" idx="2"/>
          </p:nvPr>
        </p:nvSpPr>
        <p:spPr>
          <a:xfrm>
            <a:off x="3571925" y="3306722"/>
            <a:ext cx="201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p37"/>
          <p:cNvSpPr txBox="1">
            <a:spLocks noGrp="1"/>
          </p:cNvSpPr>
          <p:nvPr>
            <p:ph type="subTitle" idx="3"/>
          </p:nvPr>
        </p:nvSpPr>
        <p:spPr>
          <a:xfrm>
            <a:off x="1088400" y="2904446"/>
            <a:ext cx="2015400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14" name="Google Shape;314;p37"/>
          <p:cNvSpPr txBox="1">
            <a:spLocks noGrp="1"/>
          </p:cNvSpPr>
          <p:nvPr>
            <p:ph type="subTitle" idx="4"/>
          </p:nvPr>
        </p:nvSpPr>
        <p:spPr>
          <a:xfrm>
            <a:off x="1088400" y="3306722"/>
            <a:ext cx="201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37"/>
          <p:cNvSpPr txBox="1">
            <a:spLocks noGrp="1"/>
          </p:cNvSpPr>
          <p:nvPr>
            <p:ph type="subTitle" idx="5"/>
          </p:nvPr>
        </p:nvSpPr>
        <p:spPr>
          <a:xfrm>
            <a:off x="6055450" y="2904446"/>
            <a:ext cx="2015400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16" name="Google Shape;316;p37"/>
          <p:cNvSpPr txBox="1">
            <a:spLocks noGrp="1"/>
          </p:cNvSpPr>
          <p:nvPr>
            <p:ph type="subTitle" idx="6"/>
          </p:nvPr>
        </p:nvSpPr>
        <p:spPr>
          <a:xfrm>
            <a:off x="6055450" y="3306722"/>
            <a:ext cx="201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3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517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cxnSp>
        <p:nvCxnSpPr>
          <p:cNvPr id="318" name="Google Shape;318;p3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9" name="Google Shape;319;p3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0" name="Google Shape;320;p37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">
  <p:cSld name="CUSTOM_23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2" name="Google Shape;322;p3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3" name="Google Shape;323;p3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4" name="Google Shape;324;p38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5" name="Google Shape;325;p38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6" name="Google Shape;326;p38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7" name="Google Shape;327;p38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8" name="Google Shape;328;p38"/>
          <p:cNvSpPr txBox="1">
            <a:spLocks noGrp="1"/>
          </p:cNvSpPr>
          <p:nvPr>
            <p:ph type="title"/>
          </p:nvPr>
        </p:nvSpPr>
        <p:spPr>
          <a:xfrm>
            <a:off x="2780100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38"/>
          <p:cNvSpPr txBox="1">
            <a:spLocks noGrp="1"/>
          </p:cNvSpPr>
          <p:nvPr>
            <p:ph type="subTitle" idx="1"/>
          </p:nvPr>
        </p:nvSpPr>
        <p:spPr>
          <a:xfrm>
            <a:off x="5306650" y="1710190"/>
            <a:ext cx="24861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330" name="Google Shape;330;p38"/>
          <p:cNvSpPr txBox="1">
            <a:spLocks noGrp="1"/>
          </p:cNvSpPr>
          <p:nvPr>
            <p:ph type="subTitle" idx="2"/>
          </p:nvPr>
        </p:nvSpPr>
        <p:spPr>
          <a:xfrm>
            <a:off x="5306650" y="211121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38"/>
          <p:cNvSpPr txBox="1">
            <a:spLocks noGrp="1"/>
          </p:cNvSpPr>
          <p:nvPr>
            <p:ph type="subTitle" idx="3"/>
          </p:nvPr>
        </p:nvSpPr>
        <p:spPr>
          <a:xfrm>
            <a:off x="1351250" y="1710190"/>
            <a:ext cx="24861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332" name="Google Shape;332;p38"/>
          <p:cNvSpPr txBox="1">
            <a:spLocks noGrp="1"/>
          </p:cNvSpPr>
          <p:nvPr>
            <p:ph type="subTitle" idx="4"/>
          </p:nvPr>
        </p:nvSpPr>
        <p:spPr>
          <a:xfrm>
            <a:off x="1351250" y="211121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38"/>
          <p:cNvSpPr txBox="1">
            <a:spLocks noGrp="1"/>
          </p:cNvSpPr>
          <p:nvPr>
            <p:ph type="subTitle" idx="5"/>
          </p:nvPr>
        </p:nvSpPr>
        <p:spPr>
          <a:xfrm>
            <a:off x="5306650" y="3552118"/>
            <a:ext cx="2486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334" name="Google Shape;334;p38"/>
          <p:cNvSpPr txBox="1">
            <a:spLocks noGrp="1"/>
          </p:cNvSpPr>
          <p:nvPr>
            <p:ph type="subTitle" idx="6"/>
          </p:nvPr>
        </p:nvSpPr>
        <p:spPr>
          <a:xfrm>
            <a:off x="5306650" y="394648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38"/>
          <p:cNvSpPr txBox="1">
            <a:spLocks noGrp="1"/>
          </p:cNvSpPr>
          <p:nvPr>
            <p:ph type="subTitle" idx="7"/>
          </p:nvPr>
        </p:nvSpPr>
        <p:spPr>
          <a:xfrm>
            <a:off x="1351250" y="3552118"/>
            <a:ext cx="2486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336" name="Google Shape;336;p38"/>
          <p:cNvSpPr txBox="1">
            <a:spLocks noGrp="1"/>
          </p:cNvSpPr>
          <p:nvPr>
            <p:ph type="subTitle" idx="8"/>
          </p:nvPr>
        </p:nvSpPr>
        <p:spPr>
          <a:xfrm>
            <a:off x="1351300" y="394648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38"/>
          <p:cNvSpPr txBox="1">
            <a:spLocks noGrp="1"/>
          </p:cNvSpPr>
          <p:nvPr>
            <p:ph type="title" idx="9" hasCustomPrompt="1"/>
          </p:nvPr>
        </p:nvSpPr>
        <p:spPr>
          <a:xfrm>
            <a:off x="1351250" y="1131425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8" name="Google Shape;338;p38"/>
          <p:cNvSpPr txBox="1">
            <a:spLocks noGrp="1"/>
          </p:cNvSpPr>
          <p:nvPr>
            <p:ph type="title" idx="13" hasCustomPrompt="1"/>
          </p:nvPr>
        </p:nvSpPr>
        <p:spPr>
          <a:xfrm>
            <a:off x="5306650" y="1131425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9" name="Google Shape;339;p38"/>
          <p:cNvSpPr txBox="1">
            <a:spLocks noGrp="1"/>
          </p:cNvSpPr>
          <p:nvPr>
            <p:ph type="title" idx="14" hasCustomPrompt="1"/>
          </p:nvPr>
        </p:nvSpPr>
        <p:spPr>
          <a:xfrm>
            <a:off x="1351300" y="2964563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0" name="Google Shape;340;p38"/>
          <p:cNvSpPr txBox="1">
            <a:spLocks noGrp="1"/>
          </p:cNvSpPr>
          <p:nvPr>
            <p:ph type="title" idx="15" hasCustomPrompt="1"/>
          </p:nvPr>
        </p:nvSpPr>
        <p:spPr>
          <a:xfrm>
            <a:off x="5306650" y="2964563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4_2_1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9"/>
          <p:cNvSpPr txBox="1">
            <a:spLocks noGrp="1"/>
          </p:cNvSpPr>
          <p:nvPr>
            <p:ph type="subTitle" idx="1"/>
          </p:nvPr>
        </p:nvSpPr>
        <p:spPr>
          <a:xfrm>
            <a:off x="3718325" y="3294199"/>
            <a:ext cx="16428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43" name="Google Shape;343;p39"/>
          <p:cNvSpPr txBox="1">
            <a:spLocks noGrp="1"/>
          </p:cNvSpPr>
          <p:nvPr>
            <p:ph type="subTitle" idx="2"/>
          </p:nvPr>
        </p:nvSpPr>
        <p:spPr>
          <a:xfrm>
            <a:off x="3617675" y="3703897"/>
            <a:ext cx="184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344" name="Google Shape;344;p39"/>
          <p:cNvSpPr txBox="1">
            <a:spLocks noGrp="1"/>
          </p:cNvSpPr>
          <p:nvPr>
            <p:ph type="subTitle" idx="3"/>
          </p:nvPr>
        </p:nvSpPr>
        <p:spPr>
          <a:xfrm>
            <a:off x="1328025" y="3294199"/>
            <a:ext cx="16428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45" name="Google Shape;345;p39"/>
          <p:cNvSpPr txBox="1">
            <a:spLocks noGrp="1"/>
          </p:cNvSpPr>
          <p:nvPr>
            <p:ph type="subTitle" idx="4"/>
          </p:nvPr>
        </p:nvSpPr>
        <p:spPr>
          <a:xfrm>
            <a:off x="1227426" y="3703897"/>
            <a:ext cx="184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346" name="Google Shape;346;p39"/>
          <p:cNvSpPr txBox="1">
            <a:spLocks noGrp="1"/>
          </p:cNvSpPr>
          <p:nvPr>
            <p:ph type="subTitle" idx="5"/>
          </p:nvPr>
        </p:nvSpPr>
        <p:spPr>
          <a:xfrm>
            <a:off x="6108550" y="3294199"/>
            <a:ext cx="16431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47" name="Google Shape;347;p39"/>
          <p:cNvSpPr txBox="1">
            <a:spLocks noGrp="1"/>
          </p:cNvSpPr>
          <p:nvPr>
            <p:ph type="subTitle" idx="6"/>
          </p:nvPr>
        </p:nvSpPr>
        <p:spPr>
          <a:xfrm>
            <a:off x="6008050" y="3703897"/>
            <a:ext cx="184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348" name="Google Shape;348;p3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18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cxnSp>
        <p:nvCxnSpPr>
          <p:cNvPr id="349" name="Google Shape;349;p3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0" name="Google Shape;350;p3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3">
  <p:cSld name="CUSTOM_5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0"/>
          <p:cNvSpPr txBox="1">
            <a:spLocks noGrp="1"/>
          </p:cNvSpPr>
          <p:nvPr>
            <p:ph type="subTitle" idx="1"/>
          </p:nvPr>
        </p:nvSpPr>
        <p:spPr>
          <a:xfrm>
            <a:off x="4750175" y="1632746"/>
            <a:ext cx="20148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53" name="Google Shape;353;p40"/>
          <p:cNvSpPr txBox="1">
            <a:spLocks noGrp="1"/>
          </p:cNvSpPr>
          <p:nvPr>
            <p:ph type="subTitle" idx="2"/>
          </p:nvPr>
        </p:nvSpPr>
        <p:spPr>
          <a:xfrm>
            <a:off x="4750184" y="2035022"/>
            <a:ext cx="20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40"/>
          <p:cNvSpPr txBox="1">
            <a:spLocks noGrp="1"/>
          </p:cNvSpPr>
          <p:nvPr>
            <p:ph type="subTitle" idx="3"/>
          </p:nvPr>
        </p:nvSpPr>
        <p:spPr>
          <a:xfrm>
            <a:off x="2306450" y="1632746"/>
            <a:ext cx="20148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55" name="Google Shape;355;p40"/>
          <p:cNvSpPr txBox="1">
            <a:spLocks noGrp="1"/>
          </p:cNvSpPr>
          <p:nvPr>
            <p:ph type="subTitle" idx="4"/>
          </p:nvPr>
        </p:nvSpPr>
        <p:spPr>
          <a:xfrm>
            <a:off x="2306462" y="2035022"/>
            <a:ext cx="20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40"/>
          <p:cNvSpPr txBox="1">
            <a:spLocks noGrp="1"/>
          </p:cNvSpPr>
          <p:nvPr>
            <p:ph type="subTitle" idx="5"/>
          </p:nvPr>
        </p:nvSpPr>
        <p:spPr>
          <a:xfrm>
            <a:off x="4750175" y="3062273"/>
            <a:ext cx="20148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57" name="Google Shape;357;p40"/>
          <p:cNvSpPr txBox="1">
            <a:spLocks noGrp="1"/>
          </p:cNvSpPr>
          <p:nvPr>
            <p:ph type="subTitle" idx="6"/>
          </p:nvPr>
        </p:nvSpPr>
        <p:spPr>
          <a:xfrm>
            <a:off x="4750184" y="3471047"/>
            <a:ext cx="20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40"/>
          <p:cNvSpPr txBox="1">
            <a:spLocks noGrp="1"/>
          </p:cNvSpPr>
          <p:nvPr>
            <p:ph type="subTitle" idx="7"/>
          </p:nvPr>
        </p:nvSpPr>
        <p:spPr>
          <a:xfrm>
            <a:off x="2306450" y="3062273"/>
            <a:ext cx="20148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59" name="Google Shape;359;p40"/>
          <p:cNvSpPr txBox="1">
            <a:spLocks noGrp="1"/>
          </p:cNvSpPr>
          <p:nvPr>
            <p:ph type="subTitle" idx="8"/>
          </p:nvPr>
        </p:nvSpPr>
        <p:spPr>
          <a:xfrm>
            <a:off x="2306462" y="3471047"/>
            <a:ext cx="20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4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2785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cxnSp>
        <p:nvCxnSpPr>
          <p:cNvPr id="361" name="Google Shape;361;p4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2" name="Google Shape;362;p4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CUSTOM_26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4" name="Google Shape;364;p4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5" name="Google Shape;365;p4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6" name="Google Shape;366;p41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7" name="Google Shape;367;p41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8" name="Google Shape;368;p41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9" name="Google Shape;369;p41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0" name="Google Shape;370;p41"/>
          <p:cNvSpPr txBox="1">
            <a:spLocks noGrp="1"/>
          </p:cNvSpPr>
          <p:nvPr>
            <p:ph type="subTitle" idx="1"/>
          </p:nvPr>
        </p:nvSpPr>
        <p:spPr>
          <a:xfrm>
            <a:off x="728750" y="1112872"/>
            <a:ext cx="20148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71" name="Google Shape;371;p41"/>
          <p:cNvSpPr txBox="1">
            <a:spLocks noGrp="1"/>
          </p:cNvSpPr>
          <p:nvPr>
            <p:ph type="subTitle" idx="2"/>
          </p:nvPr>
        </p:nvSpPr>
        <p:spPr>
          <a:xfrm>
            <a:off x="728762" y="1515149"/>
            <a:ext cx="20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2" name="Google Shape;372;p41"/>
          <p:cNvSpPr txBox="1">
            <a:spLocks noGrp="1"/>
          </p:cNvSpPr>
          <p:nvPr>
            <p:ph type="subTitle" idx="3"/>
          </p:nvPr>
        </p:nvSpPr>
        <p:spPr>
          <a:xfrm>
            <a:off x="728750" y="2036386"/>
            <a:ext cx="20148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73" name="Google Shape;373;p41"/>
          <p:cNvSpPr txBox="1">
            <a:spLocks noGrp="1"/>
          </p:cNvSpPr>
          <p:nvPr>
            <p:ph type="subTitle" idx="4"/>
          </p:nvPr>
        </p:nvSpPr>
        <p:spPr>
          <a:xfrm>
            <a:off x="728762" y="2445160"/>
            <a:ext cx="20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41"/>
          <p:cNvSpPr txBox="1">
            <a:spLocks noGrp="1"/>
          </p:cNvSpPr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sp>
        <p:nvSpPr>
          <p:cNvPr id="375" name="Google Shape;375;p41"/>
          <p:cNvSpPr txBox="1">
            <a:spLocks noGrp="1"/>
          </p:cNvSpPr>
          <p:nvPr>
            <p:ph type="subTitle" idx="5"/>
          </p:nvPr>
        </p:nvSpPr>
        <p:spPr>
          <a:xfrm>
            <a:off x="728750" y="2997225"/>
            <a:ext cx="20148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76" name="Google Shape;376;p41"/>
          <p:cNvSpPr txBox="1">
            <a:spLocks noGrp="1"/>
          </p:cNvSpPr>
          <p:nvPr>
            <p:ph type="subTitle" idx="6"/>
          </p:nvPr>
        </p:nvSpPr>
        <p:spPr>
          <a:xfrm>
            <a:off x="728762" y="3405999"/>
            <a:ext cx="20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6"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2"/>
          <p:cNvSpPr txBox="1">
            <a:spLocks noGrp="1"/>
          </p:cNvSpPr>
          <p:nvPr>
            <p:ph type="title" hasCustomPrompt="1"/>
          </p:nvPr>
        </p:nvSpPr>
        <p:spPr>
          <a:xfrm>
            <a:off x="2592925" y="714600"/>
            <a:ext cx="39582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79" name="Google Shape;379;p42"/>
          <p:cNvSpPr txBox="1">
            <a:spLocks noGrp="1"/>
          </p:cNvSpPr>
          <p:nvPr>
            <p:ph type="subTitle" idx="1"/>
          </p:nvPr>
        </p:nvSpPr>
        <p:spPr>
          <a:xfrm>
            <a:off x="2364984" y="1346400"/>
            <a:ext cx="4414200" cy="3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0" name="Google Shape;380;p42"/>
          <p:cNvSpPr txBox="1">
            <a:spLocks noGrp="1"/>
          </p:cNvSpPr>
          <p:nvPr>
            <p:ph type="title" idx="2" hasCustomPrompt="1"/>
          </p:nvPr>
        </p:nvSpPr>
        <p:spPr>
          <a:xfrm>
            <a:off x="2592925" y="2063025"/>
            <a:ext cx="39582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3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81" name="Google Shape;381;p42"/>
          <p:cNvSpPr txBox="1">
            <a:spLocks noGrp="1"/>
          </p:cNvSpPr>
          <p:nvPr>
            <p:ph type="subTitle" idx="3"/>
          </p:nvPr>
        </p:nvSpPr>
        <p:spPr>
          <a:xfrm>
            <a:off x="2364984" y="2694825"/>
            <a:ext cx="4414200" cy="3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2" name="Google Shape;382;p42"/>
          <p:cNvSpPr txBox="1">
            <a:spLocks noGrp="1"/>
          </p:cNvSpPr>
          <p:nvPr>
            <p:ph type="title" idx="4" hasCustomPrompt="1"/>
          </p:nvPr>
        </p:nvSpPr>
        <p:spPr>
          <a:xfrm>
            <a:off x="2592925" y="3411450"/>
            <a:ext cx="39582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3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83" name="Google Shape;383;p42"/>
          <p:cNvSpPr txBox="1">
            <a:spLocks noGrp="1"/>
          </p:cNvSpPr>
          <p:nvPr>
            <p:ph type="subTitle" idx="5"/>
          </p:nvPr>
        </p:nvSpPr>
        <p:spPr>
          <a:xfrm>
            <a:off x="2364950" y="4043250"/>
            <a:ext cx="4414200" cy="3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84" name="Google Shape;384;p4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5" name="Google Shape;385;p4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CUSTOM_28"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3"/>
          <p:cNvSpPr txBox="1">
            <a:spLocks noGrp="1"/>
          </p:cNvSpPr>
          <p:nvPr>
            <p:ph type="subTitle" idx="1"/>
          </p:nvPr>
        </p:nvSpPr>
        <p:spPr>
          <a:xfrm>
            <a:off x="5700609" y="2084269"/>
            <a:ext cx="27645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88" name="Google Shape;388;p43"/>
          <p:cNvSpPr txBox="1">
            <a:spLocks noGrp="1"/>
          </p:cNvSpPr>
          <p:nvPr>
            <p:ph type="subTitle" idx="2"/>
          </p:nvPr>
        </p:nvSpPr>
        <p:spPr>
          <a:xfrm>
            <a:off x="5700621" y="2486544"/>
            <a:ext cx="276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9" name="Google Shape;389;p43"/>
          <p:cNvSpPr txBox="1">
            <a:spLocks noGrp="1"/>
          </p:cNvSpPr>
          <p:nvPr>
            <p:ph type="subTitle" idx="3"/>
          </p:nvPr>
        </p:nvSpPr>
        <p:spPr>
          <a:xfrm>
            <a:off x="1973988" y="902134"/>
            <a:ext cx="27645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90" name="Google Shape;390;p43"/>
          <p:cNvSpPr txBox="1">
            <a:spLocks noGrp="1"/>
          </p:cNvSpPr>
          <p:nvPr>
            <p:ph type="subTitle" idx="4"/>
          </p:nvPr>
        </p:nvSpPr>
        <p:spPr>
          <a:xfrm>
            <a:off x="1973988" y="1304410"/>
            <a:ext cx="276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43"/>
          <p:cNvSpPr txBox="1">
            <a:spLocks noGrp="1"/>
          </p:cNvSpPr>
          <p:nvPr>
            <p:ph type="subTitle" idx="5"/>
          </p:nvPr>
        </p:nvSpPr>
        <p:spPr>
          <a:xfrm>
            <a:off x="1973988" y="3290875"/>
            <a:ext cx="27645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92" name="Google Shape;392;p43"/>
          <p:cNvSpPr txBox="1">
            <a:spLocks noGrp="1"/>
          </p:cNvSpPr>
          <p:nvPr>
            <p:ph type="subTitle" idx="6"/>
          </p:nvPr>
        </p:nvSpPr>
        <p:spPr>
          <a:xfrm>
            <a:off x="1973988" y="3699649"/>
            <a:ext cx="276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93" name="Google Shape;393;p4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4" name="Google Shape;394;p4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5" name="Google Shape;395;p4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6" name="Google Shape;396;p4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7" name="Google Shape;397;p4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8" name="Google Shape;398;p43"/>
          <p:cNvSpPr txBox="1">
            <a:spLocks noGrp="1"/>
          </p:cNvSpPr>
          <p:nvPr>
            <p:ph type="title" hasCustomPrompt="1"/>
          </p:nvPr>
        </p:nvSpPr>
        <p:spPr>
          <a:xfrm>
            <a:off x="733000" y="1114450"/>
            <a:ext cx="11181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99" name="Google Shape;399;p43"/>
          <p:cNvSpPr txBox="1">
            <a:spLocks noGrp="1"/>
          </p:cNvSpPr>
          <p:nvPr>
            <p:ph type="title" idx="7" hasCustomPrompt="1"/>
          </p:nvPr>
        </p:nvSpPr>
        <p:spPr>
          <a:xfrm>
            <a:off x="733000" y="3503175"/>
            <a:ext cx="11181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400" name="Google Shape;400;p43"/>
          <p:cNvSpPr txBox="1">
            <a:spLocks noGrp="1"/>
          </p:cNvSpPr>
          <p:nvPr>
            <p:ph type="title" idx="8" hasCustomPrompt="1"/>
          </p:nvPr>
        </p:nvSpPr>
        <p:spPr>
          <a:xfrm>
            <a:off x="4441002" y="2276488"/>
            <a:ext cx="11181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7_1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4"/>
          <p:cNvSpPr txBox="1">
            <a:spLocks noGrp="1"/>
          </p:cNvSpPr>
          <p:nvPr>
            <p:ph type="title"/>
          </p:nvPr>
        </p:nvSpPr>
        <p:spPr>
          <a:xfrm>
            <a:off x="803750" y="2040496"/>
            <a:ext cx="4087500" cy="6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44"/>
          <p:cNvSpPr txBox="1">
            <a:spLocks noGrp="1"/>
          </p:cNvSpPr>
          <p:nvPr>
            <p:ph type="subTitle" idx="1"/>
          </p:nvPr>
        </p:nvSpPr>
        <p:spPr>
          <a:xfrm>
            <a:off x="803750" y="2693525"/>
            <a:ext cx="3159300" cy="5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404" name="Google Shape;404;p4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5" name="Google Shape;405;p4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CUSTOM_7_2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5"/>
          <p:cNvSpPr txBox="1">
            <a:spLocks noGrp="1"/>
          </p:cNvSpPr>
          <p:nvPr>
            <p:ph type="title"/>
          </p:nvPr>
        </p:nvSpPr>
        <p:spPr>
          <a:xfrm>
            <a:off x="4490150" y="2047725"/>
            <a:ext cx="3364200" cy="6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408" name="Google Shape;408;p45"/>
          <p:cNvSpPr txBox="1">
            <a:spLocks noGrp="1"/>
          </p:cNvSpPr>
          <p:nvPr>
            <p:ph type="subTitle" idx="1"/>
          </p:nvPr>
        </p:nvSpPr>
        <p:spPr>
          <a:xfrm>
            <a:off x="4855550" y="2694825"/>
            <a:ext cx="2998800" cy="5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Josefin Sans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cxnSp>
        <p:nvCxnSpPr>
          <p:cNvPr id="409" name="Google Shape;409;p4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0" name="Google Shape;410;p4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CUSTOM_8"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6"/>
          <p:cNvSpPr txBox="1">
            <a:spLocks noGrp="1"/>
          </p:cNvSpPr>
          <p:nvPr>
            <p:ph type="subTitle" idx="1"/>
          </p:nvPr>
        </p:nvSpPr>
        <p:spPr>
          <a:xfrm>
            <a:off x="713225" y="1453525"/>
            <a:ext cx="7411200" cy="288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R="3810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3" name="Google Shape;413;p4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502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cxnSp>
        <p:nvCxnSpPr>
          <p:cNvPr id="414" name="Google Shape;414;p4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5" name="Google Shape;415;p4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6" name="Google Shape;416;p46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29"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8" name="Google Shape;418;p4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9" name="Google Shape;419;p4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0" name="Google Shape;420;p4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1" name="Google Shape;421;p4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2" name="Google Shape;422;p47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3" name="Google Shape;423;p47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4" name="Google Shape;424;p47"/>
          <p:cNvSpPr txBox="1">
            <a:spLocks noGrp="1"/>
          </p:cNvSpPr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sp>
        <p:nvSpPr>
          <p:cNvPr id="425" name="Google Shape;425;p47"/>
          <p:cNvSpPr txBox="1">
            <a:spLocks noGrp="1"/>
          </p:cNvSpPr>
          <p:nvPr>
            <p:ph type="subTitle" idx="1"/>
          </p:nvPr>
        </p:nvSpPr>
        <p:spPr>
          <a:xfrm>
            <a:off x="4525188" y="1537663"/>
            <a:ext cx="3957600" cy="288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R="3810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6" name="Google Shape;426;p47"/>
          <p:cNvSpPr txBox="1">
            <a:spLocks noGrp="1"/>
          </p:cNvSpPr>
          <p:nvPr>
            <p:ph type="subTitle" idx="2"/>
          </p:nvPr>
        </p:nvSpPr>
        <p:spPr>
          <a:xfrm>
            <a:off x="661213" y="1537663"/>
            <a:ext cx="3957600" cy="288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R="3810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9"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8"/>
          <p:cNvSpPr txBox="1">
            <a:spLocks noGrp="1"/>
          </p:cNvSpPr>
          <p:nvPr>
            <p:ph type="subTitle" idx="1"/>
          </p:nvPr>
        </p:nvSpPr>
        <p:spPr>
          <a:xfrm>
            <a:off x="4816075" y="3616375"/>
            <a:ext cx="2942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429" name="Google Shape;429;p48"/>
          <p:cNvSpPr txBox="1">
            <a:spLocks noGrp="1"/>
          </p:cNvSpPr>
          <p:nvPr>
            <p:ph type="subTitle" idx="2"/>
          </p:nvPr>
        </p:nvSpPr>
        <p:spPr>
          <a:xfrm>
            <a:off x="4816200" y="3956375"/>
            <a:ext cx="2941800" cy="65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0" name="Google Shape;430;p48"/>
          <p:cNvSpPr txBox="1">
            <a:spLocks noGrp="1"/>
          </p:cNvSpPr>
          <p:nvPr>
            <p:ph type="subTitle" idx="3"/>
          </p:nvPr>
        </p:nvSpPr>
        <p:spPr>
          <a:xfrm>
            <a:off x="1385829" y="3616375"/>
            <a:ext cx="2942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431" name="Google Shape;431;p48"/>
          <p:cNvSpPr txBox="1">
            <a:spLocks noGrp="1"/>
          </p:cNvSpPr>
          <p:nvPr>
            <p:ph type="subTitle" idx="4"/>
          </p:nvPr>
        </p:nvSpPr>
        <p:spPr>
          <a:xfrm>
            <a:off x="1386025" y="3956375"/>
            <a:ext cx="2941800" cy="65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2" name="Google Shape;432;p4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2729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cxnSp>
        <p:nvCxnSpPr>
          <p:cNvPr id="433" name="Google Shape;433;p4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4" name="Google Shape;434;p4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4">
  <p:cSld name="CUSTOM_31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9"/>
          <p:cNvSpPr txBox="1">
            <a:spLocks noGrp="1"/>
          </p:cNvSpPr>
          <p:nvPr>
            <p:ph type="title"/>
          </p:nvPr>
        </p:nvSpPr>
        <p:spPr>
          <a:xfrm>
            <a:off x="1244250" y="445025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sp>
        <p:nvSpPr>
          <p:cNvPr id="437" name="Google Shape;437;p49"/>
          <p:cNvSpPr txBox="1">
            <a:spLocks noGrp="1"/>
          </p:cNvSpPr>
          <p:nvPr>
            <p:ph type="subTitle" idx="1"/>
          </p:nvPr>
        </p:nvSpPr>
        <p:spPr>
          <a:xfrm>
            <a:off x="3509000" y="33987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438" name="Google Shape;438;p49"/>
          <p:cNvSpPr txBox="1">
            <a:spLocks noGrp="1"/>
          </p:cNvSpPr>
          <p:nvPr>
            <p:ph type="subTitle" idx="2"/>
          </p:nvPr>
        </p:nvSpPr>
        <p:spPr>
          <a:xfrm>
            <a:off x="3509025" y="3814950"/>
            <a:ext cx="21261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9" name="Google Shape;439;p49"/>
          <p:cNvSpPr txBox="1">
            <a:spLocks noGrp="1"/>
          </p:cNvSpPr>
          <p:nvPr>
            <p:ph type="subTitle" idx="3"/>
          </p:nvPr>
        </p:nvSpPr>
        <p:spPr>
          <a:xfrm>
            <a:off x="953025" y="33987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440" name="Google Shape;440;p49"/>
          <p:cNvSpPr txBox="1">
            <a:spLocks noGrp="1"/>
          </p:cNvSpPr>
          <p:nvPr>
            <p:ph type="subTitle" idx="4"/>
          </p:nvPr>
        </p:nvSpPr>
        <p:spPr>
          <a:xfrm>
            <a:off x="953125" y="3814951"/>
            <a:ext cx="21261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p49"/>
          <p:cNvSpPr txBox="1">
            <a:spLocks noGrp="1"/>
          </p:cNvSpPr>
          <p:nvPr>
            <p:ph type="subTitle" idx="5"/>
          </p:nvPr>
        </p:nvSpPr>
        <p:spPr>
          <a:xfrm>
            <a:off x="6064875" y="33987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442" name="Google Shape;442;p49"/>
          <p:cNvSpPr txBox="1">
            <a:spLocks noGrp="1"/>
          </p:cNvSpPr>
          <p:nvPr>
            <p:ph type="subTitle" idx="6"/>
          </p:nvPr>
        </p:nvSpPr>
        <p:spPr>
          <a:xfrm>
            <a:off x="6064875" y="3814950"/>
            <a:ext cx="21261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443" name="Google Shape;443;p4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4" name="Google Shape;444;p4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5" name="Google Shape;445;p49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6" name="Google Shape;446;p49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7" name="Google Shape;457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9" name="Google Shape;459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1" name="Google Shape;461;p52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" name="Google Shape;462;p52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Google Shape;464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8" name="Google Shape;468;p5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9" name="Google Shape;469;p5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5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5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2" name="Google Shape;472;p5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3" name="Google Shape;473;p54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7" r:id="rId49"/>
    <p:sldLayoutId id="2147483698" r:id="rId50"/>
    <p:sldLayoutId id="2147483699" r:id="rId51"/>
    <p:sldLayoutId id="2147483700" r:id="rId5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EHq4QRIPkGk?si=99hrkHmI-ct2ELI8" TargetMode="Externa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>
            <a:spLocks noGrp="1"/>
          </p:cNvSpPr>
          <p:nvPr>
            <p:ph type="ctrTitle"/>
          </p:nvPr>
        </p:nvSpPr>
        <p:spPr>
          <a:xfrm>
            <a:off x="1040000" y="1930950"/>
            <a:ext cx="7064100" cy="12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sz="3600" dirty="0"/>
              <a:t>T06 — API &amp; Contract Testing</a:t>
            </a:r>
          </a:p>
          <a:p>
            <a:r>
              <a:rPr sz="3600" dirty="0"/>
              <a:t>with Postman + </a:t>
            </a:r>
            <a:r>
              <a:rPr sz="3600" dirty="0" err="1"/>
              <a:t>Postbot</a:t>
            </a:r>
            <a:endParaRPr sz="3600" dirty="0"/>
          </a:p>
        </p:txBody>
      </p:sp>
      <p:sp>
        <p:nvSpPr>
          <p:cNvPr id="489" name="Google Shape;489;p60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/>
              <a:t>Group 04  |  Course: Software Testing</a:t>
            </a:r>
          </a:p>
          <a:p>
            <a:endParaRPr dirty="0"/>
          </a:p>
          <a:p>
            <a:r>
              <a:rPr lang="en-US" dirty="0"/>
              <a:t>Member</a:t>
            </a:r>
            <a:r>
              <a:rPr dirty="0"/>
              <a:t>s:</a:t>
            </a:r>
          </a:p>
          <a:p>
            <a:r>
              <a:rPr dirty="0"/>
              <a:t>23127047 - Hoang  •  23127052 - Huy  •  23127104 - Phuong  •  23127125 - Thuan  •  23127462 - Quang</a:t>
            </a: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0E633609-6424-CC30-293F-85F70F73D060}"/>
              </a:ext>
            </a:extLst>
          </p:cNvPr>
          <p:cNvSpPr/>
          <p:nvPr/>
        </p:nvSpPr>
        <p:spPr>
          <a:xfrm>
            <a:off x="457200" y="1492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chemeClr val="tx1"/>
                </a:solidFill>
                <a:latin typeface="Vidaloka" panose="020B0604020202020204" charset="0"/>
                <a:ea typeface="Calibri" pitchFamily="34" charset="-122"/>
                <a:cs typeface="Calibri" pitchFamily="34" charset="-120"/>
              </a:rPr>
              <a:t>SEMINAR TOPIC 06</a:t>
            </a:r>
            <a:endParaRPr lang="en-US" sz="2000" dirty="0">
              <a:solidFill>
                <a:schemeClr val="tx1"/>
              </a:solidFill>
              <a:latin typeface="Vidaloka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>
            <a:extLst>
              <a:ext uri="{FF2B5EF4-FFF2-40B4-BE49-F238E27FC236}">
                <a16:creationId xmlns:a16="http://schemas.microsoft.com/office/drawing/2014/main" id="{E5892742-D73C-CF48-E861-7025C35D77EC}"/>
              </a:ext>
            </a:extLst>
          </p:cNvPr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API Testing?</a:t>
            </a:r>
            <a:endParaRPr lang="en-US" sz="240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61F48E95-D6AA-E8D5-D578-131997477B1F}"/>
              </a:ext>
            </a:extLst>
          </p:cNvPr>
          <p:cNvSpPr/>
          <p:nvPr/>
        </p:nvSpPr>
        <p:spPr>
          <a:xfrm>
            <a:off x="77724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02/16</a:t>
            </a:r>
            <a:endParaRPr lang="en-US" sz="1100" dirty="0"/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D7EBA88C-1C20-C8BD-C13C-307DBC8DCD98}"/>
              </a:ext>
            </a:extLst>
          </p:cNvPr>
          <p:cNvSpPr/>
          <p:nvPr/>
        </p:nvSpPr>
        <p:spPr>
          <a:xfrm>
            <a:off x="457200" y="109728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969466F9-737A-A0D1-3627-1F1A4395042C}"/>
              </a:ext>
            </a:extLst>
          </p:cNvPr>
          <p:cNvSpPr/>
          <p:nvPr/>
        </p:nvSpPr>
        <p:spPr>
          <a:xfrm>
            <a:off x="457200" y="1097280"/>
            <a:ext cx="2560320" cy="73152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7FD1B59E-EBBC-2141-7317-21D9839DB00E}"/>
              </a:ext>
            </a:extLst>
          </p:cNvPr>
          <p:cNvSpPr/>
          <p:nvPr/>
        </p:nvSpPr>
        <p:spPr>
          <a:xfrm>
            <a:off x="640080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CD2E20B6-6D4B-36B6-41FF-39263CA43D8D}"/>
              </a:ext>
            </a:extLst>
          </p:cNvPr>
          <p:cNvSpPr/>
          <p:nvPr/>
        </p:nvSpPr>
        <p:spPr>
          <a:xfrm>
            <a:off x="640080" y="1554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Backbone</a:t>
            </a:r>
            <a:endParaRPr lang="en-US" sz="16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9C190F4D-E26D-D1D5-7828-C42D2F01BD7F}"/>
              </a:ext>
            </a:extLst>
          </p:cNvPr>
          <p:cNvSpPr/>
          <p:nvPr/>
        </p:nvSpPr>
        <p:spPr>
          <a:xfrm>
            <a:off x="640080" y="201168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connect Frontend, Backend, and third-party integrations. An API failure paralyzes the entire system immediately.</a:t>
            </a:r>
            <a:endParaRPr lang="en-US" sz="1200" dirty="0"/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0F686401-6D15-1188-28C1-E73BF50B257E}"/>
              </a:ext>
            </a:extLst>
          </p:cNvPr>
          <p:cNvSpPr/>
          <p:nvPr/>
        </p:nvSpPr>
        <p:spPr>
          <a:xfrm>
            <a:off x="3291840" y="109728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8FEB1673-7D98-4F15-C2FA-DE34377E31C2}"/>
              </a:ext>
            </a:extLst>
          </p:cNvPr>
          <p:cNvSpPr/>
          <p:nvPr/>
        </p:nvSpPr>
        <p:spPr>
          <a:xfrm>
            <a:off x="3291840" y="1097280"/>
            <a:ext cx="2560320" cy="73152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21E43CBD-DA8F-CF09-2265-C9BB50D045D9}"/>
              </a:ext>
            </a:extLst>
          </p:cNvPr>
          <p:cNvSpPr/>
          <p:nvPr/>
        </p:nvSpPr>
        <p:spPr>
          <a:xfrm>
            <a:off x="3474720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4D313792-62D6-437A-7112-4FC021184FB6}"/>
              </a:ext>
            </a:extLst>
          </p:cNvPr>
          <p:cNvSpPr/>
          <p:nvPr/>
        </p:nvSpPr>
        <p:spPr>
          <a:xfrm>
            <a:off x="3474720" y="1554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 Testing</a:t>
            </a:r>
            <a:endParaRPr lang="en-US" sz="160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D7DB4C77-4D69-1D68-F9CA-BA3FB3E12E89}"/>
              </a:ext>
            </a:extLst>
          </p:cNvPr>
          <p:cNvSpPr/>
          <p:nvPr/>
        </p:nvSpPr>
        <p:spPr>
          <a:xfrm>
            <a:off x="3474720" y="201168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isolate bugs early in the service logic layer. Fixing API bugs is far cheaper than fixing them at the GUI level.</a:t>
            </a:r>
            <a:endParaRPr lang="en-US" sz="1200" dirty="0"/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AC656677-DBAB-66A5-D4FD-D77CAB27883B}"/>
              </a:ext>
            </a:extLst>
          </p:cNvPr>
          <p:cNvSpPr/>
          <p:nvPr/>
        </p:nvSpPr>
        <p:spPr>
          <a:xfrm>
            <a:off x="6126480" y="109728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14">
            <a:extLst>
              <a:ext uri="{FF2B5EF4-FFF2-40B4-BE49-F238E27FC236}">
                <a16:creationId xmlns:a16="http://schemas.microsoft.com/office/drawing/2014/main" id="{0871B452-CAE4-970B-8380-5D851C58FE01}"/>
              </a:ext>
            </a:extLst>
          </p:cNvPr>
          <p:cNvSpPr/>
          <p:nvPr/>
        </p:nvSpPr>
        <p:spPr>
          <a:xfrm>
            <a:off x="6126480" y="1097280"/>
            <a:ext cx="2560320" cy="73152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E5EAECE7-F1F8-FDAF-D56A-93A1F323D486}"/>
              </a:ext>
            </a:extLst>
          </p:cNvPr>
          <p:cNvSpPr/>
          <p:nvPr/>
        </p:nvSpPr>
        <p:spPr>
          <a:xfrm>
            <a:off x="6309360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5DDB1A8A-AC43-C138-2269-337A9DBAC42A}"/>
              </a:ext>
            </a:extLst>
          </p:cNvPr>
          <p:cNvSpPr/>
          <p:nvPr/>
        </p:nvSpPr>
        <p:spPr>
          <a:xfrm>
            <a:off x="6309360" y="1554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&amp; Automation</a:t>
            </a:r>
            <a:endParaRPr lang="en-US" sz="1600" dirty="0"/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2957A794-74B8-1472-CEDA-8286BAF1E5D4}"/>
              </a:ext>
            </a:extLst>
          </p:cNvPr>
          <p:cNvSpPr/>
          <p:nvPr/>
        </p:nvSpPr>
        <p:spPr>
          <a:xfrm>
            <a:off x="6309360" y="201168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hundreds of test cases in seconds. Easily integrate into CI/CD pipelines for automated regression testing.</a:t>
            </a:r>
            <a:endParaRPr lang="en-US" sz="1200" dirty="0"/>
          </a:p>
        </p:txBody>
      </p:sp>
      <p:sp>
        <p:nvSpPr>
          <p:cNvPr id="33" name="Shape 18">
            <a:extLst>
              <a:ext uri="{FF2B5EF4-FFF2-40B4-BE49-F238E27FC236}">
                <a16:creationId xmlns:a16="http://schemas.microsoft.com/office/drawing/2014/main" id="{D33836CD-0385-BEDF-5181-999B48E435B5}"/>
              </a:ext>
            </a:extLst>
          </p:cNvPr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B0ACA0E5-62E3-E9E7-28ED-3969CB82DB85}"/>
              </a:ext>
            </a:extLst>
          </p:cNvPr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REALIZATION:</a:t>
            </a:r>
            <a:endParaRPr lang="en-US" sz="1200" dirty="0"/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ACCC741B-FFB5-B309-0562-F832DEDB069D}"/>
              </a:ext>
            </a:extLst>
          </p:cNvPr>
          <p:cNvSpPr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critical API bug on the Backend can crash all client platforms (Web, iOS, Android) simultaneously before the UI can handle or display any structured error message.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19616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A0E8F5A5-DB72-87CE-6F3F-02EAFF5ACA88}"/>
              </a:ext>
            </a:extLst>
          </p:cNvPr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Scope — T06 Focus Areas</a:t>
            </a:r>
            <a:endParaRPr lang="en-US" sz="240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DB8ED722-58C4-1B04-A629-97F692F52658}"/>
              </a:ext>
            </a:extLst>
          </p:cNvPr>
          <p:cNvSpPr/>
          <p:nvPr/>
        </p:nvSpPr>
        <p:spPr>
          <a:xfrm>
            <a:off x="795528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03/16</a:t>
            </a:r>
            <a:endParaRPr lang="en-US" sz="1100" dirty="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1063C64F-34A0-438B-F612-E1BFAF67AB68}"/>
              </a:ext>
            </a:extLst>
          </p:cNvPr>
          <p:cNvSpPr/>
          <p:nvPr/>
        </p:nvSpPr>
        <p:spPr>
          <a:xfrm>
            <a:off x="457200" y="1097280"/>
            <a:ext cx="8229600" cy="1005840"/>
          </a:xfrm>
          <a:prstGeom prst="roundRect">
            <a:avLst>
              <a:gd name="adj" fmla="val 5455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F0201350-E60B-D2E2-8A1B-13E59EA1393F}"/>
              </a:ext>
            </a:extLst>
          </p:cNvPr>
          <p:cNvSpPr/>
          <p:nvPr/>
        </p:nvSpPr>
        <p:spPr>
          <a:xfrm>
            <a:off x="457200" y="1097280"/>
            <a:ext cx="54864" cy="1005840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6028DEEC-2155-6DF8-0F40-0EE05204B931}"/>
              </a:ext>
            </a:extLst>
          </p:cNvPr>
          <p:cNvSpPr/>
          <p:nvPr/>
        </p:nvSpPr>
        <p:spPr>
          <a:xfrm>
            <a:off x="731520" y="1234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API Functional Testing</a:t>
            </a:r>
            <a:endParaRPr lang="en-US" sz="15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6D7B244E-87CE-FF39-A117-2CE0B2AC3915}"/>
              </a:ext>
            </a:extLst>
          </p:cNvPr>
          <p:cNvSpPr/>
          <p:nvPr/>
        </p:nvSpPr>
        <p:spPr>
          <a:xfrm>
            <a:off x="731520" y="1508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JavaScript Test Scripts to automate functional validation and business logic checks.</a:t>
            </a:r>
            <a:endParaRPr lang="en-US" sz="1200" dirty="0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151F8C4B-E3BE-A122-3210-D77BAF3E1561}"/>
              </a:ext>
            </a:extLst>
          </p:cNvPr>
          <p:cNvSpPr/>
          <p:nvPr/>
        </p:nvSpPr>
        <p:spPr>
          <a:xfrm>
            <a:off x="457200" y="2240280"/>
            <a:ext cx="8229600" cy="1005840"/>
          </a:xfrm>
          <a:prstGeom prst="roundRect">
            <a:avLst>
              <a:gd name="adj" fmla="val 5455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31E23295-0A56-285A-5B86-672A4CFDAFDD}"/>
              </a:ext>
            </a:extLst>
          </p:cNvPr>
          <p:cNvSpPr/>
          <p:nvPr/>
        </p:nvSpPr>
        <p:spPr>
          <a:xfrm>
            <a:off x="457200" y="2240280"/>
            <a:ext cx="54864" cy="1005840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33BF92B9-981F-E19D-4E84-FE10219DC1DC}"/>
              </a:ext>
            </a:extLst>
          </p:cNvPr>
          <p:cNvSpPr/>
          <p:nvPr/>
        </p:nvSpPr>
        <p:spPr>
          <a:xfrm>
            <a:off x="731520" y="2377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API Contract Testing</a:t>
            </a:r>
            <a:endParaRPr lang="en-US" sz="15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97F6C595-B245-D9A3-B9E8-B1A35D556A51}"/>
              </a:ext>
            </a:extLst>
          </p:cNvPr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response structures (JSON Schema) between Consumer and Provider to ensure API contracts are not broken.</a:t>
            </a:r>
            <a:endParaRPr lang="en-US" sz="1200" dirty="0"/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AA37657C-26C9-8748-EC0F-D4745CCF148A}"/>
              </a:ext>
            </a:extLst>
          </p:cNvPr>
          <p:cNvSpPr/>
          <p:nvPr/>
        </p:nvSpPr>
        <p:spPr>
          <a:xfrm>
            <a:off x="457200" y="3383280"/>
            <a:ext cx="8229600" cy="1005840"/>
          </a:xfrm>
          <a:prstGeom prst="roundRect">
            <a:avLst>
              <a:gd name="adj" fmla="val 5455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ECA05203-308D-BF1B-CA24-CF8831FE4AC5}"/>
              </a:ext>
            </a:extLst>
          </p:cNvPr>
          <p:cNvSpPr/>
          <p:nvPr/>
        </p:nvSpPr>
        <p:spPr>
          <a:xfrm>
            <a:off x="457200" y="3383280"/>
            <a:ext cx="54864" cy="1005840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FD1ABCB6-D686-9B0F-F3B2-2DEB47C9916B}"/>
              </a:ext>
            </a:extLst>
          </p:cNvPr>
          <p:cNvSpPr/>
          <p:nvPr/>
        </p:nvSpPr>
        <p:spPr>
          <a:xfrm>
            <a:off x="731520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AI-Augmented Testing</a:t>
            </a:r>
            <a:endParaRPr lang="en-US" sz="1500" dirty="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4CED6025-A58A-C65B-4945-9BF562E0FFD3}"/>
              </a:ext>
            </a:extLst>
          </p:cNvPr>
          <p:cNvSpPr/>
          <p:nvPr/>
        </p:nvSpPr>
        <p:spPr>
          <a:xfrm>
            <a:off x="731520" y="3794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Utilize Postbot AI to auto-generate assertions from actual response structures using natural language prompts.</a:t>
            </a:r>
            <a:endParaRPr lang="en-US" sz="1200" dirty="0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49B628E4-76EC-A7E2-4643-D17C505C7730}"/>
              </a:ext>
            </a:extLst>
          </p:cNvPr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Note: Theoretical differences are compared against Pact (dedicated CDC), but hands-on implementation focuses entirely on Postman.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452107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>
            <a:extLst>
              <a:ext uri="{FF2B5EF4-FFF2-40B4-BE49-F238E27FC236}">
                <a16:creationId xmlns:a16="http://schemas.microsoft.com/office/drawing/2014/main" id="{1E79884E-0983-030B-B307-3DEC577DABAC}"/>
              </a:ext>
            </a:extLst>
          </p:cNvPr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Postman? — Tool Selection Context</a:t>
            </a:r>
            <a:endParaRPr lang="en-US" sz="24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9C2DBC8B-9604-3201-3C23-8634B4563147}"/>
              </a:ext>
            </a:extLst>
          </p:cNvPr>
          <p:cNvSpPr/>
          <p:nvPr/>
        </p:nvSpPr>
        <p:spPr>
          <a:xfrm>
            <a:off x="77724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04/16</a:t>
            </a:r>
            <a:endParaRPr lang="en-US" sz="11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DF2F4902-6CD2-B2E5-2892-4BD656AF636E}"/>
              </a:ext>
            </a:extLst>
          </p:cNvPr>
          <p:cNvSpPr/>
          <p:nvPr/>
        </p:nvSpPr>
        <p:spPr>
          <a:xfrm>
            <a:off x="457200" y="10972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2349BAA1-CCD9-0B7C-085E-FDDC452C6071}"/>
              </a:ext>
            </a:extLst>
          </p:cNvPr>
          <p:cNvSpPr/>
          <p:nvPr/>
        </p:nvSpPr>
        <p:spPr>
          <a:xfrm>
            <a:off x="457200" y="1097280"/>
            <a:ext cx="3931920" cy="73152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948FE00D-5B6D-2787-F89B-58C864670E60}"/>
              </a:ext>
            </a:extLst>
          </p:cNvPr>
          <p:cNvSpPr/>
          <p:nvPr/>
        </p:nvSpPr>
        <p:spPr>
          <a:xfrm>
            <a:off x="731520" y="1280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Superiority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3A2E598F-6C88-4F6F-4FE5-A5D0411A9F28}"/>
              </a:ext>
            </a:extLst>
          </p:cNvPr>
          <p:cNvSpPr/>
          <p:nvPr/>
        </p:nvSpPr>
        <p:spPr>
          <a:xfrm>
            <a:off x="731520" y="173736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Standard: 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35M+ users and major software development organizations worldwide.
</a:t>
            </a: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&amp; Scripted: 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UI support for manual requests and powerful automation script runners.
</a:t>
            </a: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Chai.js Assertion: 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JavaScript sandbox with Chai.js assertion library for flexible test suites.</a:t>
            </a:r>
            <a:endParaRPr lang="en-US" sz="120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DDEA5EAD-E148-C3C6-9232-9F67E2BCE792}"/>
              </a:ext>
            </a:extLst>
          </p:cNvPr>
          <p:cNvSpPr/>
          <p:nvPr/>
        </p:nvSpPr>
        <p:spPr>
          <a:xfrm>
            <a:off x="4754880" y="10972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79CD8925-E648-5883-6910-A6A5F4D0ABE2}"/>
              </a:ext>
            </a:extLst>
          </p:cNvPr>
          <p:cNvSpPr/>
          <p:nvPr/>
        </p:nvSpPr>
        <p:spPr>
          <a:xfrm>
            <a:off x="4754880" y="1097280"/>
            <a:ext cx="3931920" cy="73152"/>
          </a:xfrm>
          <a:prstGeom prst="rect">
            <a:avLst/>
          </a:prstGeom>
          <a:solidFill>
            <a:schemeClr val="bg1">
              <a:lumMod val="25000"/>
            </a:schemeClr>
          </a:solidFill>
          <a:ln/>
        </p:spPr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88A6C173-3270-C717-0CEC-9554860A1C2C}"/>
              </a:ext>
            </a:extLst>
          </p:cNvPr>
          <p:cNvSpPr/>
          <p:nvPr/>
        </p:nvSpPr>
        <p:spPr>
          <a:xfrm>
            <a:off x="5029200" y="1280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>
                    <a:lumMod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Postbot AI &amp; EShop SUT Context</a:t>
            </a:r>
            <a:endParaRPr lang="en-US" sz="1800" dirty="0">
              <a:solidFill>
                <a:schemeClr val="bg1">
                  <a:lumMod val="25000"/>
                </a:schemeClr>
              </a:solidFill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99ABDD9D-5F26-476C-E085-7517F66408C1}"/>
              </a:ext>
            </a:extLst>
          </p:cNvPr>
          <p:cNvSpPr/>
          <p:nvPr/>
        </p:nvSpPr>
        <p:spPr>
          <a:xfrm>
            <a:off x="5029200" y="173736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Postbot AI Assistant: 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test scripts using natural language prompts, accelerating test writing.
</a:t>
            </a: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EShop SUT: 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Express/Node.js architecture is perfect for lightweight contract testing.
</a:t>
            </a: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Cost-Effective: 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provides all core testing features and 50 AI credits per month.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59410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>
            <a:extLst>
              <a:ext uri="{FF2B5EF4-FFF2-40B4-BE49-F238E27FC236}">
                <a16:creationId xmlns:a16="http://schemas.microsoft.com/office/drawing/2014/main" id="{4019F2A1-B93A-82F2-5CF2-1E2F196DCBC0}"/>
              </a:ext>
            </a:extLst>
          </p:cNvPr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Overview</a:t>
            </a:r>
            <a:endParaRPr lang="en-US" sz="24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CAE5611F-EF6F-32A7-72ED-38F71C20BA36}"/>
              </a:ext>
            </a:extLst>
          </p:cNvPr>
          <p:cNvSpPr/>
          <p:nvPr/>
        </p:nvSpPr>
        <p:spPr>
          <a:xfrm>
            <a:off x="77724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05/16</a:t>
            </a:r>
            <a:endParaRPr lang="en-US" sz="1100" dirty="0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AF15E31A-5129-1ABD-FF98-5B516082E5C3}"/>
              </a:ext>
            </a:extLst>
          </p:cNvPr>
          <p:cNvSpPr/>
          <p:nvPr/>
        </p:nvSpPr>
        <p:spPr>
          <a:xfrm>
            <a:off x="457200" y="109728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16C33794-DE95-D7D2-8CD8-388485F80F3C}"/>
              </a:ext>
            </a:extLst>
          </p:cNvPr>
          <p:cNvSpPr/>
          <p:nvPr/>
        </p:nvSpPr>
        <p:spPr>
          <a:xfrm>
            <a:off x="457200" y="1097280"/>
            <a:ext cx="54864" cy="1645920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4F0CD061-8E7F-CCE6-A8F7-DB473D6FD15E}"/>
              </a:ext>
            </a:extLst>
          </p:cNvPr>
          <p:cNvSpPr/>
          <p:nvPr/>
        </p:nvSpPr>
        <p:spPr>
          <a:xfrm>
            <a:off x="685800" y="1234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Request Builder &amp; Auth</a:t>
            </a:r>
            <a:endParaRPr lang="en-US" sz="15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0B70CD56-FFD4-6E0F-9C30-8A5BF77480B2}"/>
              </a:ext>
            </a:extLst>
          </p:cNvPr>
          <p:cNvSpPr/>
          <p:nvPr/>
        </p:nvSpPr>
        <p:spPr>
          <a:xfrm>
            <a:off x="685800" y="15544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REST requests (GET, POST, PUT, DELETE). Inherit Authorization (Bearer Token) at the Collection level for centralized security.</a:t>
            </a:r>
            <a:endParaRPr lang="en-US" sz="120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77352A14-D05C-2B73-2EC2-5A26449E4098}"/>
              </a:ext>
            </a:extLst>
          </p:cNvPr>
          <p:cNvSpPr/>
          <p:nvPr/>
        </p:nvSpPr>
        <p:spPr>
          <a:xfrm>
            <a:off x="4754880" y="109728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280D3830-2A8A-AA26-772D-230E6DD0AF73}"/>
              </a:ext>
            </a:extLst>
          </p:cNvPr>
          <p:cNvSpPr/>
          <p:nvPr/>
        </p:nvSpPr>
        <p:spPr>
          <a:xfrm>
            <a:off x="4754880" y="1097280"/>
            <a:ext cx="54864" cy="1645920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B059F832-B791-5881-D6E5-B9C6E0910749}"/>
              </a:ext>
            </a:extLst>
          </p:cNvPr>
          <p:cNvSpPr/>
          <p:nvPr/>
        </p:nvSpPr>
        <p:spPr>
          <a:xfrm>
            <a:off x="4983480" y="1234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Variable Chaining</a:t>
            </a:r>
            <a:endParaRPr lang="en-US" sz="1500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6AD3B9B1-2F2C-4FC6-F156-F78C8B2F2E3D}"/>
              </a:ext>
            </a:extLst>
          </p:cNvPr>
          <p:cNvSpPr/>
          <p:nvPr/>
        </p:nvSpPr>
        <p:spPr>
          <a:xfrm>
            <a:off x="4983480" y="15544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dynamic API workflows: Extract JWT tokens from Login response and dynamically inject them as headers in subsequent requests.</a:t>
            </a:r>
            <a:endParaRPr lang="en-US" sz="1200" dirty="0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6B4A1FCF-1D17-FD46-97E3-8FC44FA1C051}"/>
              </a:ext>
            </a:extLst>
          </p:cNvPr>
          <p:cNvSpPr/>
          <p:nvPr/>
        </p:nvSpPr>
        <p:spPr>
          <a:xfrm>
            <a:off x="457200" y="301752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F155E6AE-8CA0-C64F-8540-76F7CBE7B6F1}"/>
              </a:ext>
            </a:extLst>
          </p:cNvPr>
          <p:cNvSpPr/>
          <p:nvPr/>
        </p:nvSpPr>
        <p:spPr>
          <a:xfrm>
            <a:off x="457200" y="3017520"/>
            <a:ext cx="54864" cy="1645920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C7B9C88B-17DA-A186-13BA-CF1BC7A55A97}"/>
              </a:ext>
            </a:extLst>
          </p:cNvPr>
          <p:cNvSpPr/>
          <p:nvPr/>
        </p:nvSpPr>
        <p:spPr>
          <a:xfrm>
            <a:off x="685800" y="3154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Collection Runner</a:t>
            </a:r>
            <a:endParaRPr lang="en-US" sz="1500" dirty="0"/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1B826AEC-E9BD-12FA-EA5E-2304EB86516B}"/>
              </a:ext>
            </a:extLst>
          </p:cNvPr>
          <p:cNvSpPr/>
          <p:nvPr/>
        </p:nvSpPr>
        <p:spPr>
          <a:xfrm>
            <a:off x="685800" y="34747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complete integration workflows directly from Postman's GUI, supporting Data-Driven Testing (DDT) with external datasets.</a:t>
            </a:r>
            <a:endParaRPr lang="en-US" sz="1200" dirty="0"/>
          </a:p>
        </p:txBody>
      </p:sp>
      <p:sp>
        <p:nvSpPr>
          <p:cNvPr id="25" name="Shape 15">
            <a:extLst>
              <a:ext uri="{FF2B5EF4-FFF2-40B4-BE49-F238E27FC236}">
                <a16:creationId xmlns:a16="http://schemas.microsoft.com/office/drawing/2014/main" id="{7DE818AA-B107-3989-227E-326C838A10BF}"/>
              </a:ext>
            </a:extLst>
          </p:cNvPr>
          <p:cNvSpPr/>
          <p:nvPr/>
        </p:nvSpPr>
        <p:spPr>
          <a:xfrm>
            <a:off x="4754880" y="301752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16">
            <a:extLst>
              <a:ext uri="{FF2B5EF4-FFF2-40B4-BE49-F238E27FC236}">
                <a16:creationId xmlns:a16="http://schemas.microsoft.com/office/drawing/2014/main" id="{55E616F2-9EF2-D075-EC31-89397C13A54A}"/>
              </a:ext>
            </a:extLst>
          </p:cNvPr>
          <p:cNvSpPr/>
          <p:nvPr/>
        </p:nvSpPr>
        <p:spPr>
          <a:xfrm>
            <a:off x="4754880" y="3017520"/>
            <a:ext cx="54864" cy="1645920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10C20273-DB24-1E05-62E8-44668E4183A0}"/>
              </a:ext>
            </a:extLst>
          </p:cNvPr>
          <p:cNvSpPr/>
          <p:nvPr/>
        </p:nvSpPr>
        <p:spPr>
          <a:xfrm>
            <a:off x="4983480" y="3154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Newman CLI &amp; Reporter</a:t>
            </a:r>
            <a:endParaRPr lang="en-US" sz="1500" dirty="0"/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E443324A-310B-B528-BA72-B23D34C0B3CF}"/>
              </a:ext>
            </a:extLst>
          </p:cNvPr>
          <p:cNvSpPr/>
          <p:nvPr/>
        </p:nvSpPr>
        <p:spPr>
          <a:xfrm>
            <a:off x="4983480" y="34747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test suites headless from terminal. Export rich reports (HTML, JUnit XML) to integrate into CI/CD pipelines.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92245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2D8FA3C-C3A1-4DC7-CAA9-9C89AA728BBF}"/>
              </a:ext>
            </a:extLst>
          </p:cNvPr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API Requests &amp; Status Codes</a:t>
            </a:r>
            <a:endParaRPr lang="en-US" sz="2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626A2D3-BCF7-BF54-C709-E081304ABF7F}"/>
              </a:ext>
            </a:extLst>
          </p:cNvPr>
          <p:cNvSpPr/>
          <p:nvPr/>
        </p:nvSpPr>
        <p:spPr>
          <a:xfrm>
            <a:off x="804672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06/16</a:t>
            </a:r>
            <a:endParaRPr lang="en-US" sz="1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6BBB580-B338-0AC2-3AA2-92B3446EDF19}"/>
              </a:ext>
            </a:extLst>
          </p:cNvPr>
          <p:cNvSpPr/>
          <p:nvPr/>
        </p:nvSpPr>
        <p:spPr>
          <a:xfrm>
            <a:off x="457200" y="109728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7D23DA59-95F3-AC15-0A62-176B2863AD9A}"/>
              </a:ext>
            </a:extLst>
          </p:cNvPr>
          <p:cNvSpPr/>
          <p:nvPr/>
        </p:nvSpPr>
        <p:spPr>
          <a:xfrm>
            <a:off x="457200" y="1097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8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BD68BD95-2388-C0D1-7578-A4E643D3AD26}"/>
              </a:ext>
            </a:extLst>
          </p:cNvPr>
          <p:cNvSpPr/>
          <p:nvPr/>
        </p:nvSpPr>
        <p:spPr>
          <a:xfrm>
            <a:off x="548640" y="173736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Read/Query 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200 / 404</a:t>
            </a:r>
            <a:endParaRPr lang="en-US" sz="1200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2EDD0859-CE8D-662B-BF56-1BDC196630D9}"/>
              </a:ext>
            </a:extLst>
          </p:cNvPr>
          <p:cNvSpPr/>
          <p:nvPr/>
        </p:nvSpPr>
        <p:spPr>
          <a:xfrm>
            <a:off x="2560320" y="109728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E8AB6E4A-0D5C-256A-E131-14FFD62C92E3}"/>
              </a:ext>
            </a:extLst>
          </p:cNvPr>
          <p:cNvSpPr/>
          <p:nvPr/>
        </p:nvSpPr>
        <p:spPr>
          <a:xfrm>
            <a:off x="2560320" y="1097280"/>
            <a:ext cx="1920240" cy="548640"/>
          </a:xfrm>
          <a:prstGeom prst="roundRect">
            <a:avLst>
              <a:gd name="adj" fmla="val 13333"/>
            </a:avLst>
          </a:prstGeom>
          <a:solidFill>
            <a:schemeClr val="bg1">
              <a:lumMod val="50000"/>
            </a:schemeClr>
          </a:solidFill>
          <a:ln/>
        </p:spPr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0115B55B-6385-048A-657D-3D4CE32CE741}"/>
              </a:ext>
            </a:extLst>
          </p:cNvPr>
          <p:cNvSpPr/>
          <p:nvPr/>
        </p:nvSpPr>
        <p:spPr>
          <a:xfrm>
            <a:off x="2560320" y="1097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800" dirty="0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890653DF-9408-CCCC-3CFA-29392852794C}"/>
              </a:ext>
            </a:extLst>
          </p:cNvPr>
          <p:cNvSpPr/>
          <p:nvPr/>
        </p:nvSpPr>
        <p:spPr>
          <a:xfrm>
            <a:off x="2651760" y="173736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resources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200 / 201</a:t>
            </a:r>
            <a:endParaRPr lang="en-US" sz="1200" dirty="0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57D79C4C-6306-BB34-6983-860F3D8EC7EC}"/>
              </a:ext>
            </a:extLst>
          </p:cNvPr>
          <p:cNvSpPr/>
          <p:nvPr/>
        </p:nvSpPr>
        <p:spPr>
          <a:xfrm>
            <a:off x="4663440" y="109728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B4E76FC6-04E4-8144-F432-41161939CBB9}"/>
              </a:ext>
            </a:extLst>
          </p:cNvPr>
          <p:cNvSpPr/>
          <p:nvPr/>
        </p:nvSpPr>
        <p:spPr>
          <a:xfrm>
            <a:off x="4663440" y="109728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D97706"/>
          </a:solidFill>
          <a:ln/>
        </p:spPr>
      </p:sp>
      <p:sp>
        <p:nvSpPr>
          <p:cNvPr id="14" name="Shape 15">
            <a:extLst>
              <a:ext uri="{FF2B5EF4-FFF2-40B4-BE49-F238E27FC236}">
                <a16:creationId xmlns:a16="http://schemas.microsoft.com/office/drawing/2014/main" id="{B292CC3C-8DAB-BDB2-68A8-43E47F9FFAEE}"/>
              </a:ext>
            </a:extLst>
          </p:cNvPr>
          <p:cNvSpPr/>
          <p:nvPr/>
        </p:nvSpPr>
        <p:spPr>
          <a:xfrm>
            <a:off x="4663440" y="1371600"/>
            <a:ext cx="1920240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EBBB4F5E-C0F8-982A-2700-B4AE53B85509}"/>
              </a:ext>
            </a:extLst>
          </p:cNvPr>
          <p:cNvSpPr/>
          <p:nvPr/>
        </p:nvSpPr>
        <p:spPr>
          <a:xfrm>
            <a:off x="4663440" y="1097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800" dirty="0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524248F9-E0D6-6951-2F3B-F8B8341DDCEB}"/>
              </a:ext>
            </a:extLst>
          </p:cNvPr>
          <p:cNvSpPr/>
          <p:nvPr/>
        </p:nvSpPr>
        <p:spPr>
          <a:xfrm>
            <a:off x="4754880" y="173736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existing 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200</a:t>
            </a:r>
            <a:endParaRPr lang="en-US" sz="1200" dirty="0"/>
          </a:p>
        </p:txBody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F77DC535-D7EC-E20C-4BAF-A1FF2B7DDF86}"/>
              </a:ext>
            </a:extLst>
          </p:cNvPr>
          <p:cNvSpPr/>
          <p:nvPr/>
        </p:nvSpPr>
        <p:spPr>
          <a:xfrm>
            <a:off x="6766560" y="109728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21">
            <a:extLst>
              <a:ext uri="{FF2B5EF4-FFF2-40B4-BE49-F238E27FC236}">
                <a16:creationId xmlns:a16="http://schemas.microsoft.com/office/drawing/2014/main" id="{AD02725C-4FC5-AC38-79E5-68055EAB7DEE}"/>
              </a:ext>
            </a:extLst>
          </p:cNvPr>
          <p:cNvSpPr/>
          <p:nvPr/>
        </p:nvSpPr>
        <p:spPr>
          <a:xfrm>
            <a:off x="6766560" y="1097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800" dirty="0"/>
          </a:p>
        </p:txBody>
      </p:sp>
      <p:sp>
        <p:nvSpPr>
          <p:cNvPr id="19" name="Text 22">
            <a:extLst>
              <a:ext uri="{FF2B5EF4-FFF2-40B4-BE49-F238E27FC236}">
                <a16:creationId xmlns:a16="http://schemas.microsoft.com/office/drawing/2014/main" id="{71CFFFA2-D8FC-8612-1324-28C078789AFA}"/>
              </a:ext>
            </a:extLst>
          </p:cNvPr>
          <p:cNvSpPr/>
          <p:nvPr/>
        </p:nvSpPr>
        <p:spPr>
          <a:xfrm>
            <a:off x="6858000" y="173736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resources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200 / 204</a:t>
            </a:r>
            <a:endParaRPr lang="en-US" sz="1200" dirty="0"/>
          </a:p>
        </p:txBody>
      </p:sp>
      <p:sp>
        <p:nvSpPr>
          <p:cNvPr id="20" name="Shape 23">
            <a:extLst>
              <a:ext uri="{FF2B5EF4-FFF2-40B4-BE49-F238E27FC236}">
                <a16:creationId xmlns:a16="http://schemas.microsoft.com/office/drawing/2014/main" id="{3DA17476-4953-88A7-4FFD-8EE95E794142}"/>
              </a:ext>
            </a:extLst>
          </p:cNvPr>
          <p:cNvSpPr/>
          <p:nvPr/>
        </p:nvSpPr>
        <p:spPr>
          <a:xfrm>
            <a:off x="457200" y="3383280"/>
            <a:ext cx="8229600" cy="1188720"/>
          </a:xfrm>
          <a:prstGeom prst="rect">
            <a:avLst/>
          </a:prstGeom>
          <a:solidFill>
            <a:schemeClr val="bg1">
              <a:lumMod val="9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21" name="Text 25">
            <a:extLst>
              <a:ext uri="{FF2B5EF4-FFF2-40B4-BE49-F238E27FC236}">
                <a16:creationId xmlns:a16="http://schemas.microsoft.com/office/drawing/2014/main" id="{6795A005-ADC8-C670-8182-37E839300186}"/>
              </a:ext>
            </a:extLst>
          </p:cNvPr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AUTHENTICATION TIP:</a:t>
            </a:r>
            <a:endParaRPr lang="en-US" sz="1300" dirty="0">
              <a:solidFill>
                <a:schemeClr val="tx1"/>
              </a:solidFill>
            </a:endParaRPr>
          </a:p>
        </p:txBody>
      </p:sp>
      <p:sp>
        <p:nvSpPr>
          <p:cNvPr id="22" name="Text 26">
            <a:extLst>
              <a:ext uri="{FF2B5EF4-FFF2-40B4-BE49-F238E27FC236}">
                <a16:creationId xmlns:a16="http://schemas.microsoft.com/office/drawing/2014/main" id="{CC319FFD-3E0E-4A43-4873-AD98FD9E3F74}"/>
              </a:ext>
            </a:extLst>
          </p:cNvPr>
          <p:cNvSpPr/>
          <p:nvPr/>
        </p:nvSpPr>
        <p:spPr>
          <a:xfrm>
            <a:off x="640080" y="37490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configuring Bearer Tokens for individual requests, set it at the Collection level. Through Auth Inheritance, all child requests inherit the authorization headers automatically.</a:t>
            </a:r>
            <a:endParaRPr lang="en-US" sz="1200" dirty="0"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76B488F1-332F-5631-2490-78632187E6F7}"/>
              </a:ext>
            </a:extLst>
          </p:cNvPr>
          <p:cNvSpPr/>
          <p:nvPr/>
        </p:nvSpPr>
        <p:spPr>
          <a:xfrm>
            <a:off x="457200" y="1097280"/>
            <a:ext cx="1920240" cy="548640"/>
          </a:xfrm>
          <a:prstGeom prst="roundRect">
            <a:avLst>
              <a:gd name="adj" fmla="val 13333"/>
            </a:avLst>
          </a:prstGeom>
          <a:solidFill>
            <a:schemeClr val="bg1">
              <a:lumMod val="75000"/>
            </a:schemeClr>
          </a:solidFill>
          <a:ln/>
        </p:spPr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6ABE74AD-A1D2-651A-CA52-5114D164E825}"/>
              </a:ext>
            </a:extLst>
          </p:cNvPr>
          <p:cNvSpPr/>
          <p:nvPr/>
        </p:nvSpPr>
        <p:spPr>
          <a:xfrm>
            <a:off x="457200" y="1097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800" dirty="0"/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CC395E42-EC37-96A2-75B7-752F83D1BE2B}"/>
              </a:ext>
            </a:extLst>
          </p:cNvPr>
          <p:cNvSpPr/>
          <p:nvPr/>
        </p:nvSpPr>
        <p:spPr>
          <a:xfrm>
            <a:off x="6766560" y="109728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DC2626"/>
          </a:solidFill>
          <a:ln/>
        </p:spPr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3DEAF9E4-3A4E-92F1-859C-43D7F864B7FF}"/>
              </a:ext>
            </a:extLst>
          </p:cNvPr>
          <p:cNvSpPr/>
          <p:nvPr/>
        </p:nvSpPr>
        <p:spPr>
          <a:xfrm>
            <a:off x="6766560" y="1097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06352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>
            <a:extLst>
              <a:ext uri="{FF2B5EF4-FFF2-40B4-BE49-F238E27FC236}">
                <a16:creationId xmlns:a16="http://schemas.microsoft.com/office/drawing/2014/main" id="{724D8A3F-6FF1-95E4-ABB4-5EFAEE16BEFD}"/>
              </a:ext>
            </a:extLst>
          </p:cNvPr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Authentication Testing Patterns</a:t>
            </a:r>
            <a:endParaRPr lang="en-US" sz="24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2A46A17D-A078-415C-C92E-CE474673999D}"/>
              </a:ext>
            </a:extLst>
          </p:cNvPr>
          <p:cNvSpPr/>
          <p:nvPr/>
        </p:nvSpPr>
        <p:spPr>
          <a:xfrm>
            <a:off x="77724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07/16</a:t>
            </a:r>
            <a:endParaRPr lang="en-US" sz="1100" dirty="0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D6412E5A-F16E-533A-C362-4793FE98DB2E}"/>
              </a:ext>
            </a:extLst>
          </p:cNvPr>
          <p:cNvSpPr/>
          <p:nvPr/>
        </p:nvSpPr>
        <p:spPr>
          <a:xfrm>
            <a:off x="457200" y="10972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1D20F108-0BEA-822B-6518-CCF6733A62F6}"/>
              </a:ext>
            </a:extLst>
          </p:cNvPr>
          <p:cNvSpPr/>
          <p:nvPr/>
        </p:nvSpPr>
        <p:spPr>
          <a:xfrm>
            <a:off x="457200" y="1097280"/>
            <a:ext cx="3931920" cy="73152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A75B7195-CE46-1709-1DF5-17A95BDA3A20}"/>
              </a:ext>
            </a:extLst>
          </p:cNvPr>
          <p:cNvSpPr/>
          <p:nvPr/>
        </p:nvSpPr>
        <p:spPr>
          <a:xfrm>
            <a:off x="531706" y="1271016"/>
            <a:ext cx="37829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Authentication Mechanisms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F71AD451-F363-4707-ED64-B0D098901046}"/>
              </a:ext>
            </a:extLst>
          </p:cNvPr>
          <p:cNvSpPr/>
          <p:nvPr/>
        </p:nvSpPr>
        <p:spPr>
          <a:xfrm>
            <a:off x="731520" y="162306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Bearer Token (JWT):
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generated by the server and sent in the Authorization Header. Standard for SPA and Mobile apps.
</a:t>
            </a: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API Key:
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key passed via Header or Query Parameter.
</a:t>
            </a: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Basic Auth:
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encoded username:password sent directly.
</a:t>
            </a: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Session Cookie:
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maintains session state; browser sends cookies automatically.</a:t>
            </a:r>
            <a:endParaRPr lang="en-US" sz="110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808C563-8AA3-D4FB-1C08-C2ABEC68FF03}"/>
              </a:ext>
            </a:extLst>
          </p:cNvPr>
          <p:cNvSpPr/>
          <p:nvPr/>
        </p:nvSpPr>
        <p:spPr>
          <a:xfrm>
            <a:off x="4754880" y="10972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5AEC6680-49EF-DA54-5BD6-34DCB894F8EA}"/>
              </a:ext>
            </a:extLst>
          </p:cNvPr>
          <p:cNvSpPr/>
          <p:nvPr/>
        </p:nvSpPr>
        <p:spPr>
          <a:xfrm>
            <a:off x="4754880" y="1097280"/>
            <a:ext cx="3931920" cy="73152"/>
          </a:xfrm>
          <a:prstGeom prst="rect">
            <a:avLst/>
          </a:prstGeom>
          <a:solidFill>
            <a:schemeClr val="bg1">
              <a:lumMod val="25000"/>
            </a:schemeClr>
          </a:solidFill>
          <a:ln/>
        </p:spPr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25C9B43B-4120-7639-69BD-C31DE456CF0D}"/>
              </a:ext>
            </a:extLst>
          </p:cNvPr>
          <p:cNvSpPr/>
          <p:nvPr/>
        </p:nvSpPr>
        <p:spPr>
          <a:xfrm>
            <a:off x="5029200" y="1280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>
                    <a:lumMod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EShop SUT Automation Workflow</a:t>
            </a:r>
            <a:endParaRPr lang="en-US" sz="1800" dirty="0">
              <a:solidFill>
                <a:schemeClr val="bg1">
                  <a:lumMod val="25000"/>
                </a:schemeClr>
              </a:solidFill>
            </a:endParaRPr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5BAB2146-046E-7EC5-57F1-4B12DCC0C88B}"/>
              </a:ext>
            </a:extLst>
          </p:cNvPr>
          <p:cNvSpPr/>
          <p:nvPr/>
        </p:nvSpPr>
        <p:spPr>
          <a:xfrm>
            <a:off x="5029200" y="1737360"/>
            <a:ext cx="33832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D82DBB85-966C-F49F-9E5A-6F89E6FE2735}"/>
              </a:ext>
            </a:extLst>
          </p:cNvPr>
          <p:cNvSpPr/>
          <p:nvPr/>
        </p:nvSpPr>
        <p:spPr>
          <a:xfrm>
            <a:off x="5029200" y="1737360"/>
            <a:ext cx="45720" cy="731520"/>
          </a:xfrm>
          <a:prstGeom prst="rect">
            <a:avLst/>
          </a:prstGeom>
          <a:solidFill>
            <a:schemeClr val="bg1">
              <a:lumMod val="25000"/>
            </a:schemeClr>
          </a:solidFill>
          <a:ln/>
        </p:spPr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48FB470B-059A-6259-165E-54735AFC5C42}"/>
              </a:ext>
            </a:extLst>
          </p:cNvPr>
          <p:cNvSpPr/>
          <p:nvPr/>
        </p:nvSpPr>
        <p:spPr>
          <a:xfrm>
            <a:off x="5212080" y="181051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POST /api/login</a:t>
            </a:r>
            <a:endParaRPr lang="en-US" sz="1200" dirty="0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E56C06FA-5E8D-AA0A-C664-C095BE8BC397}"/>
              </a:ext>
            </a:extLst>
          </p:cNvPr>
          <p:cNvSpPr/>
          <p:nvPr/>
        </p:nvSpPr>
        <p:spPr>
          <a:xfrm>
            <a:off x="5212080" y="20391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valid user credentials to the Server.</a:t>
            </a:r>
            <a:endParaRPr lang="en-US" sz="1050" dirty="0"/>
          </a:p>
        </p:txBody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82A0FB4D-9C12-9779-DE50-91507C9B8162}"/>
              </a:ext>
            </a:extLst>
          </p:cNvPr>
          <p:cNvSpPr/>
          <p:nvPr/>
        </p:nvSpPr>
        <p:spPr>
          <a:xfrm>
            <a:off x="5029200" y="2606040"/>
            <a:ext cx="33832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15">
            <a:extLst>
              <a:ext uri="{FF2B5EF4-FFF2-40B4-BE49-F238E27FC236}">
                <a16:creationId xmlns:a16="http://schemas.microsoft.com/office/drawing/2014/main" id="{5AA5DB46-A1F5-8379-BA74-B44E392A880E}"/>
              </a:ext>
            </a:extLst>
          </p:cNvPr>
          <p:cNvSpPr/>
          <p:nvPr/>
        </p:nvSpPr>
        <p:spPr>
          <a:xfrm>
            <a:off x="5029200" y="2606040"/>
            <a:ext cx="45720" cy="731520"/>
          </a:xfrm>
          <a:prstGeom prst="rect">
            <a:avLst/>
          </a:prstGeom>
          <a:solidFill>
            <a:schemeClr val="bg1">
              <a:lumMod val="25000"/>
            </a:schemeClr>
          </a:solidFill>
          <a:ln/>
        </p:spPr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7E050973-AE25-4CF5-3EE9-D3685852CE69}"/>
              </a:ext>
            </a:extLst>
          </p:cNvPr>
          <p:cNvSpPr/>
          <p:nvPr/>
        </p:nvSpPr>
        <p:spPr>
          <a:xfrm>
            <a:off x="5212080" y="267919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Extract &amp; Auto-save</a:t>
            </a:r>
            <a:endParaRPr lang="en-US" sz="1200" dirty="0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3DDEC59A-8C7D-337E-9569-94C6B34114F8}"/>
              </a:ext>
            </a:extLst>
          </p:cNvPr>
          <p:cNvSpPr/>
          <p:nvPr/>
        </p:nvSpPr>
        <p:spPr>
          <a:xfrm>
            <a:off x="5212080" y="29077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Post-response script extracts JWT token and saves it in {{auth_token}}.</a:t>
            </a:r>
            <a:endParaRPr lang="en-US" sz="1050" dirty="0"/>
          </a:p>
        </p:txBody>
      </p:sp>
      <p:sp>
        <p:nvSpPr>
          <p:cNvPr id="28" name="Shape 18">
            <a:extLst>
              <a:ext uri="{FF2B5EF4-FFF2-40B4-BE49-F238E27FC236}">
                <a16:creationId xmlns:a16="http://schemas.microsoft.com/office/drawing/2014/main" id="{F11067E1-7274-84D1-D29E-84C03A661037}"/>
              </a:ext>
            </a:extLst>
          </p:cNvPr>
          <p:cNvSpPr/>
          <p:nvPr/>
        </p:nvSpPr>
        <p:spPr>
          <a:xfrm>
            <a:off x="5029200" y="3474720"/>
            <a:ext cx="33832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19">
            <a:extLst>
              <a:ext uri="{FF2B5EF4-FFF2-40B4-BE49-F238E27FC236}">
                <a16:creationId xmlns:a16="http://schemas.microsoft.com/office/drawing/2014/main" id="{10EAA6FA-3077-4074-F1FD-013C8364B086}"/>
              </a:ext>
            </a:extLst>
          </p:cNvPr>
          <p:cNvSpPr/>
          <p:nvPr/>
        </p:nvSpPr>
        <p:spPr>
          <a:xfrm>
            <a:off x="5029200" y="3474720"/>
            <a:ext cx="45720" cy="731520"/>
          </a:xfrm>
          <a:prstGeom prst="rect">
            <a:avLst/>
          </a:prstGeom>
          <a:solidFill>
            <a:schemeClr val="bg1">
              <a:lumMod val="25000"/>
            </a:schemeClr>
          </a:solidFill>
          <a:ln/>
        </p:spPr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83374647-0FFB-D72B-DB7A-FAC72788EAEE}"/>
              </a:ext>
            </a:extLst>
          </p:cNvPr>
          <p:cNvSpPr/>
          <p:nvPr/>
        </p:nvSpPr>
        <p:spPr>
          <a:xfrm>
            <a:off x="5212080" y="354787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Automatic Inheritance</a:t>
            </a:r>
            <a:endParaRPr lang="en-US" sz="1200" dirty="0"/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323E506A-22B7-1E24-2E8C-FE96752EFCF5}"/>
              </a:ext>
            </a:extLst>
          </p:cNvPr>
          <p:cNvSpPr/>
          <p:nvPr/>
        </p:nvSpPr>
        <p:spPr>
          <a:xfrm>
            <a:off x="5212080" y="37764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Subsequent protected requests use the environment variable automatically.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269557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9F1CA9B-1AA9-C250-15CA-E849508A457A}"/>
              </a:ext>
            </a:extLst>
          </p:cNvPr>
          <p:cNvSpPr/>
          <p:nvPr/>
        </p:nvSpPr>
        <p:spPr>
          <a:xfrm>
            <a:off x="9144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 in Postman (Pre-request vs. Post-response)</a:t>
            </a:r>
            <a:endParaRPr lang="en-US" sz="2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0939F49-4F6D-27BE-E017-E7F8F13F6085}"/>
              </a:ext>
            </a:extLst>
          </p:cNvPr>
          <p:cNvSpPr/>
          <p:nvPr/>
        </p:nvSpPr>
        <p:spPr>
          <a:xfrm>
            <a:off x="806958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08/16</a:t>
            </a:r>
            <a:endParaRPr lang="en-US" sz="1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895A160-E600-AE1A-5358-0FDF19DB4AEA}"/>
              </a:ext>
            </a:extLst>
          </p:cNvPr>
          <p:cNvSpPr/>
          <p:nvPr/>
        </p:nvSpPr>
        <p:spPr>
          <a:xfrm>
            <a:off x="457200" y="10972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91EF36F-C82F-D016-2776-C3C0824B589A}"/>
              </a:ext>
            </a:extLst>
          </p:cNvPr>
          <p:cNvSpPr/>
          <p:nvPr/>
        </p:nvSpPr>
        <p:spPr>
          <a:xfrm>
            <a:off x="457200" y="1097280"/>
            <a:ext cx="3931920" cy="73152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71E5852-CD2A-A2D3-DB90-CD06EDFACC5E}"/>
              </a:ext>
            </a:extLst>
          </p:cNvPr>
          <p:cNvSpPr/>
          <p:nvPr/>
        </p:nvSpPr>
        <p:spPr>
          <a:xfrm>
            <a:off x="640080" y="1280160"/>
            <a:ext cx="3642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Pre-request Scripts </a:t>
            </a:r>
          </a:p>
          <a:p>
            <a:pPr marL="0" indent="0" algn="ctr">
              <a:buNone/>
            </a:pPr>
            <a:r>
              <a:rPr lang="en-US" sz="1800" b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(Before sending)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DD72D28-2837-520C-0E69-93A296D6AE07}"/>
              </a:ext>
            </a:extLst>
          </p:cNvPr>
          <p:cNvSpPr/>
          <p:nvPr/>
        </p:nvSpPr>
        <p:spPr>
          <a:xfrm>
            <a:off x="731520" y="1900344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Purpose: 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dynamic data or calculate inputs before the request is sent.
</a:t>
            </a: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Real-world Example: 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a random email during `POST /api/register` to avoid 'Email already exists' errors:
</a:t>
            </a:r>
            <a:endParaRPr lang="en-US" sz="1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EE0F40B-6F07-4FD2-539D-10936B4D620E}"/>
              </a:ext>
            </a:extLst>
          </p:cNvPr>
          <p:cNvSpPr/>
          <p:nvPr/>
        </p:nvSpPr>
        <p:spPr>
          <a:xfrm>
            <a:off x="731519" y="2854537"/>
            <a:ext cx="3383280" cy="731520"/>
          </a:xfrm>
          <a:prstGeom prst="roundRect">
            <a:avLst>
              <a:gd name="adj" fmla="val 5000"/>
            </a:avLst>
          </a:prstGeom>
          <a:solidFill>
            <a:schemeClr val="bg1">
              <a:lumMod val="90000"/>
            </a:scheme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4AC36C8-6CF8-BD68-308B-E57CC8A1DF1E}"/>
              </a:ext>
            </a:extLst>
          </p:cNvPr>
          <p:cNvSpPr/>
          <p:nvPr/>
        </p:nvSpPr>
        <p:spPr>
          <a:xfrm>
            <a:off x="819573" y="2854537"/>
            <a:ext cx="3207173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randomEmail = `test_${Math.floor(Math.random() * 10000)}@eshop.com`;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pm.environment.set("email", randomEmail);</a:t>
            </a:r>
            <a:endParaRPr lang="en-US" sz="1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C3E8F57-FE8B-438F-F448-4F5C1B0B941A}"/>
              </a:ext>
            </a:extLst>
          </p:cNvPr>
          <p:cNvSpPr/>
          <p:nvPr/>
        </p:nvSpPr>
        <p:spPr>
          <a:xfrm>
            <a:off x="731520" y="35763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use `{{email}}` directly in the Request Body JSON.</a:t>
            </a:r>
            <a:endParaRPr lang="en-US" sz="11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E93EE73-C47F-9AE0-7106-D653048ADE1F}"/>
              </a:ext>
            </a:extLst>
          </p:cNvPr>
          <p:cNvSpPr/>
          <p:nvPr/>
        </p:nvSpPr>
        <p:spPr>
          <a:xfrm>
            <a:off x="4754880" y="10972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BF37FAA-836C-BD22-35EE-0837D02FB21F}"/>
              </a:ext>
            </a:extLst>
          </p:cNvPr>
          <p:cNvSpPr/>
          <p:nvPr/>
        </p:nvSpPr>
        <p:spPr>
          <a:xfrm>
            <a:off x="4754880" y="1097280"/>
            <a:ext cx="3931920" cy="73152"/>
          </a:xfrm>
          <a:prstGeom prst="rect">
            <a:avLst/>
          </a:prstGeom>
          <a:solidFill>
            <a:schemeClr val="bg1">
              <a:lumMod val="25000"/>
            </a:schemeClr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3290A44-A194-6B1A-0343-F0E20A5EF8A5}"/>
              </a:ext>
            </a:extLst>
          </p:cNvPr>
          <p:cNvSpPr/>
          <p:nvPr/>
        </p:nvSpPr>
        <p:spPr>
          <a:xfrm>
            <a:off x="5029200" y="1280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>
                    <a:lumMod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Post-response Scripts / Tests (After receiving)</a:t>
            </a:r>
            <a:endParaRPr lang="en-US" sz="1800" dirty="0">
              <a:solidFill>
                <a:schemeClr val="bg1">
                  <a:lumMod val="25000"/>
                </a:schemeClr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5EE84E6-55C2-777F-15E8-A1E30089BF31}"/>
              </a:ext>
            </a:extLst>
          </p:cNvPr>
          <p:cNvSpPr/>
          <p:nvPr/>
        </p:nvSpPr>
        <p:spPr>
          <a:xfrm>
            <a:off x="5029200" y="1711622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Purpose: 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API response quality (assertions) and extract variables for workflow chaining.
</a:t>
            </a: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Variable Chaining:
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login token and user ID to pass them to GET Cart, POST Cart, and Checkout endpoints.</a:t>
            </a:r>
            <a:endParaRPr lang="en-US" sz="12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9F81490-8CCA-FA2E-073C-FCE3682A4048}"/>
              </a:ext>
            </a:extLst>
          </p:cNvPr>
          <p:cNvSpPr/>
          <p:nvPr/>
        </p:nvSpPr>
        <p:spPr>
          <a:xfrm>
            <a:off x="5029200" y="2926081"/>
            <a:ext cx="3383280" cy="1192106"/>
          </a:xfrm>
          <a:prstGeom prst="roundRect">
            <a:avLst>
              <a:gd name="adj" fmla="val 4000"/>
            </a:avLst>
          </a:prstGeom>
          <a:solidFill>
            <a:schemeClr val="bg1">
              <a:lumMod val="90000"/>
            </a:schemeClr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778983B-CDB9-484F-67BD-A8D93DF7761A}"/>
              </a:ext>
            </a:extLst>
          </p:cNvPr>
          <p:cNvSpPr/>
          <p:nvPr/>
        </p:nvSpPr>
        <p:spPr>
          <a:xfrm>
            <a:off x="5120640" y="30175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responseData = pm.response.json();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pm.test("Save Auth Token &amp; User ID", function 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pm.environment.set("auth_token", 	</a:t>
            </a:r>
            <a:r>
              <a:rPr lang="en-US" sz="950" dirty="0" err="1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responseData.token</a:t>
            </a: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pm.environment.set("user_id", 	responseData.user.id);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E217EA2-CBC0-60BA-8FFE-8FA9B8B0427F}"/>
              </a:ext>
            </a:extLst>
          </p:cNvPr>
          <p:cNvSpPr/>
          <p:nvPr/>
        </p:nvSpPr>
        <p:spPr>
          <a:xfrm>
            <a:off x="5029200" y="416966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This will be demonstrated live on Postman during the demo phase.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88452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322A106A-C971-F053-64C3-C3B6F2D59FCC}"/>
              </a:ext>
            </a:extLst>
          </p:cNvPr>
          <p:cNvSpPr/>
          <p:nvPr/>
        </p:nvSpPr>
        <p:spPr>
          <a:xfrm>
            <a:off x="9144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Testing with Postman (API Interface Validation)</a:t>
            </a:r>
            <a:endParaRPr lang="en-US" sz="240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564E023F-8ED3-E177-587C-0EEE64DEAFA8}"/>
              </a:ext>
            </a:extLst>
          </p:cNvPr>
          <p:cNvSpPr/>
          <p:nvPr/>
        </p:nvSpPr>
        <p:spPr>
          <a:xfrm>
            <a:off x="804672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09/16</a:t>
            </a:r>
            <a:endParaRPr lang="en-US" sz="1100" dirty="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C1C48736-A76B-6B16-687B-A793A12B8519}"/>
              </a:ext>
            </a:extLst>
          </p:cNvPr>
          <p:cNvSpPr/>
          <p:nvPr/>
        </p:nvSpPr>
        <p:spPr>
          <a:xfrm>
            <a:off x="457200" y="1097280"/>
            <a:ext cx="2560320" cy="3162300"/>
          </a:xfrm>
          <a:prstGeom prst="roundRect">
            <a:avLst>
              <a:gd name="adj" fmla="val 2857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44951D33-6DE3-A258-EB51-3D405464EFE6}"/>
              </a:ext>
            </a:extLst>
          </p:cNvPr>
          <p:cNvSpPr/>
          <p:nvPr/>
        </p:nvSpPr>
        <p:spPr>
          <a:xfrm>
            <a:off x="457200" y="1097280"/>
            <a:ext cx="2560320" cy="73152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B44FD536-A00A-D8D1-52EA-E92A09FCDAD4}"/>
              </a:ext>
            </a:extLst>
          </p:cNvPr>
          <p:cNvSpPr/>
          <p:nvPr/>
        </p:nvSpPr>
        <p:spPr>
          <a:xfrm>
            <a:off x="640080" y="1280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Validation</a:t>
            </a:r>
            <a:endParaRPr lang="en-US" sz="15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622C489E-E9F4-7F11-8FFC-72E3FB9F798F}"/>
              </a:ext>
            </a:extLst>
          </p:cNvPr>
          <p:cNvSpPr/>
          <p:nvPr/>
        </p:nvSpPr>
        <p:spPr>
          <a:xfrm>
            <a:off x="640080" y="1666240"/>
            <a:ext cx="21945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integrates the Ajv Validator (v6.12.5) to support JSON Schema draft-07.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Asserts key data types (`integer`, `string`), required fields, and format constraints (`format: email`).</a:t>
            </a:r>
            <a:endParaRPr lang="en-US" sz="1100" dirty="0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03F510FC-3C3B-BAE6-311D-B55A0ABEF34D}"/>
              </a:ext>
            </a:extLst>
          </p:cNvPr>
          <p:cNvSpPr/>
          <p:nvPr/>
        </p:nvSpPr>
        <p:spPr>
          <a:xfrm>
            <a:off x="3291840" y="1097280"/>
            <a:ext cx="2560320" cy="3162300"/>
          </a:xfrm>
          <a:prstGeom prst="roundRect">
            <a:avLst>
              <a:gd name="adj" fmla="val 2857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447B9C97-61BE-13F4-49F6-A8B1565D1C75}"/>
              </a:ext>
            </a:extLst>
          </p:cNvPr>
          <p:cNvSpPr/>
          <p:nvPr/>
        </p:nvSpPr>
        <p:spPr>
          <a:xfrm>
            <a:off x="3291840" y="1097280"/>
            <a:ext cx="2560320" cy="73152"/>
          </a:xfrm>
          <a:prstGeom prst="rect">
            <a:avLst/>
          </a:prstGeom>
          <a:solidFill>
            <a:schemeClr val="bg1">
              <a:lumMod val="25000"/>
            </a:schemeClr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4B3CACBF-E585-8831-9110-B6F93E45BB5C}"/>
              </a:ext>
            </a:extLst>
          </p:cNvPr>
          <p:cNvSpPr/>
          <p:nvPr/>
        </p:nvSpPr>
        <p:spPr>
          <a:xfrm>
            <a:off x="3474720" y="1280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Assertions</a:t>
            </a:r>
            <a:endParaRPr lang="en-US" sz="15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42EC8CD5-0335-57F8-D314-C1A7429DC581}"/>
              </a:ext>
            </a:extLst>
          </p:cNvPr>
          <p:cNvSpPr/>
          <p:nvPr/>
        </p:nvSpPr>
        <p:spPr>
          <a:xfrm>
            <a:off x="3474720" y="1828800"/>
            <a:ext cx="21945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other aspects of the API contract: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Code: Checks if the correct HTTP status is returned.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Headers: Verifies the response format (e.g., `application/json`).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 Response: Ensures the API meets performance limits (&lt;800ms).</a:t>
            </a:r>
            <a:endParaRPr lang="en-US" sz="1100" dirty="0"/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7137D423-D1EB-1929-D199-C168A77EAB15}"/>
              </a:ext>
            </a:extLst>
          </p:cNvPr>
          <p:cNvSpPr/>
          <p:nvPr/>
        </p:nvSpPr>
        <p:spPr>
          <a:xfrm>
            <a:off x="6126480" y="1097280"/>
            <a:ext cx="2560320" cy="3162300"/>
          </a:xfrm>
          <a:prstGeom prst="roundRect">
            <a:avLst>
              <a:gd name="adj" fmla="val 2857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700AD1E1-8A1D-75A8-1BDF-D467350875A8}"/>
              </a:ext>
            </a:extLst>
          </p:cNvPr>
          <p:cNvSpPr/>
          <p:nvPr/>
        </p:nvSpPr>
        <p:spPr>
          <a:xfrm>
            <a:off x="6126480" y="1097280"/>
            <a:ext cx="2560320" cy="73152"/>
          </a:xfrm>
          <a:prstGeom prst="rect">
            <a:avLst/>
          </a:prstGeom>
          <a:solidFill>
            <a:schemeClr val="bg1">
              <a:lumMod val="10000"/>
            </a:schemeClr>
          </a:solidFill>
          <a:ln/>
        </p:spPr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BD0189E9-25EE-42A0-5678-B69DE34C5159}"/>
              </a:ext>
            </a:extLst>
          </p:cNvPr>
          <p:cNvSpPr/>
          <p:nvPr/>
        </p:nvSpPr>
        <p:spPr>
          <a:xfrm>
            <a:off x="6309360" y="1280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Contracts</a:t>
            </a:r>
            <a:endParaRPr lang="en-US" sz="1500" dirty="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72C2853C-6AE2-9CCF-AA25-CF4F51789F9E}"/>
              </a:ext>
            </a:extLst>
          </p:cNvPr>
          <p:cNvSpPr/>
          <p:nvPr/>
        </p:nvSpPr>
        <p:spPr>
          <a:xfrm>
            <a:off x="6309360" y="1666240"/>
            <a:ext cx="21945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sample responses as Examples directly in Postman.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Examples serve as the API documentation, which can spin up Postman Mock Servers for Frontend/Backend decoupled development.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27138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>
            <a:extLst>
              <a:ext uri="{FF2B5EF4-FFF2-40B4-BE49-F238E27FC236}">
                <a16:creationId xmlns:a16="http://schemas.microsoft.com/office/drawing/2014/main" id="{5B661591-7C9F-4105-B650-7E094C557B16}"/>
              </a:ext>
            </a:extLst>
          </p:cNvPr>
          <p:cNvSpPr/>
          <p:nvPr/>
        </p:nvSpPr>
        <p:spPr>
          <a:xfrm>
            <a:off x="9144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Runner &amp; Newman CLI (Automated Run)</a:t>
            </a:r>
            <a:endParaRPr lang="en-US" sz="2400" dirty="0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338EC89C-6CF9-9CC0-D1DE-E96A5879C858}"/>
              </a:ext>
            </a:extLst>
          </p:cNvPr>
          <p:cNvSpPr/>
          <p:nvPr/>
        </p:nvSpPr>
        <p:spPr>
          <a:xfrm>
            <a:off x="806958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10/16</a:t>
            </a:r>
            <a:endParaRPr lang="en-US" sz="110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95469E38-B4F3-3165-A4DD-98C6A924F0FC}"/>
              </a:ext>
            </a:extLst>
          </p:cNvPr>
          <p:cNvSpPr/>
          <p:nvPr/>
        </p:nvSpPr>
        <p:spPr>
          <a:xfrm>
            <a:off x="457200" y="1097280"/>
            <a:ext cx="3931920" cy="3078480"/>
          </a:xfrm>
          <a:prstGeom prst="roundRect">
            <a:avLst>
              <a:gd name="adj" fmla="val 2051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F4A9438D-7ACB-32A6-F84E-311A365E4836}"/>
              </a:ext>
            </a:extLst>
          </p:cNvPr>
          <p:cNvSpPr/>
          <p:nvPr/>
        </p:nvSpPr>
        <p:spPr>
          <a:xfrm>
            <a:off x="457200" y="1097280"/>
            <a:ext cx="3931920" cy="73152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8B3E5B74-6F12-93FD-1DB3-7C29F98A6AFE}"/>
              </a:ext>
            </a:extLst>
          </p:cNvPr>
          <p:cNvSpPr/>
          <p:nvPr/>
        </p:nvSpPr>
        <p:spPr>
          <a:xfrm>
            <a:off x="731520" y="1280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>
                    <a:lumMod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Runner (GUI) &amp; DDT</a:t>
            </a:r>
            <a:endParaRPr lang="en-US" sz="1800" dirty="0">
              <a:solidFill>
                <a:schemeClr val="bg1">
                  <a:lumMod val="25000"/>
                </a:schemeClr>
              </a:solidFill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552DD6D2-9318-6157-530B-CF38A012C486}"/>
              </a:ext>
            </a:extLst>
          </p:cNvPr>
          <p:cNvSpPr/>
          <p:nvPr/>
        </p:nvSpPr>
        <p:spPr>
          <a:xfrm>
            <a:off x="731520" y="1737360"/>
            <a:ext cx="3383280" cy="2552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Workflow Execution: 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entire test folder sequentially, configuring iterations and delays to simulate real user behavior.
</a:t>
            </a: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Data-Driven Testing (DDT): 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hardcoding credentials, feed an external CSV/JSON file to run tests across multiple accounts and verify success/error paths.</a:t>
            </a:r>
            <a:endParaRPr lang="en-US" sz="1200" dirty="0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DC389E30-8DCC-C634-FADE-011FA0431940}"/>
              </a:ext>
            </a:extLst>
          </p:cNvPr>
          <p:cNvSpPr/>
          <p:nvPr/>
        </p:nvSpPr>
        <p:spPr>
          <a:xfrm>
            <a:off x="4754880" y="1097280"/>
            <a:ext cx="3931920" cy="3078480"/>
          </a:xfrm>
          <a:prstGeom prst="roundRect">
            <a:avLst>
              <a:gd name="adj" fmla="val 2051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213EB95A-DE0E-0F6F-114A-61C15F915B4C}"/>
              </a:ext>
            </a:extLst>
          </p:cNvPr>
          <p:cNvSpPr/>
          <p:nvPr/>
        </p:nvSpPr>
        <p:spPr>
          <a:xfrm>
            <a:off x="4754880" y="1097280"/>
            <a:ext cx="3931920" cy="73152"/>
          </a:xfrm>
          <a:prstGeom prst="rect">
            <a:avLst/>
          </a:prstGeom>
          <a:solidFill>
            <a:schemeClr val="bg1">
              <a:lumMod val="25000"/>
            </a:schemeClr>
          </a:solidFill>
          <a:ln/>
        </p:spPr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2148889E-DBA0-0CC9-353A-205BBE07AD81}"/>
              </a:ext>
            </a:extLst>
          </p:cNvPr>
          <p:cNvSpPr/>
          <p:nvPr/>
        </p:nvSpPr>
        <p:spPr>
          <a:xfrm>
            <a:off x="4841240" y="1271016"/>
            <a:ext cx="375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>
                    <a:lumMod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Newman CLI (Headless Terminal Run)</a:t>
            </a:r>
            <a:endParaRPr lang="en-US" sz="1800" dirty="0">
              <a:solidFill>
                <a:schemeClr val="bg1">
                  <a:lumMod val="25000"/>
                </a:schemeClr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7CF8CC9F-E55A-AEE0-6D01-5CDBEBAB0E15}"/>
              </a:ext>
            </a:extLst>
          </p:cNvPr>
          <p:cNvSpPr/>
          <p:nvPr/>
        </p:nvSpPr>
        <p:spPr>
          <a:xfrm>
            <a:off x="5029200" y="1819656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Headless Execution: 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Newman runs exported collections and environments directly from terminal:
</a:t>
            </a:r>
            <a:endParaRPr lang="en-US" sz="1200" dirty="0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50C3D304-5C0D-249D-1C5F-1A734BA185D8}"/>
              </a:ext>
            </a:extLst>
          </p:cNvPr>
          <p:cNvSpPr/>
          <p:nvPr/>
        </p:nvSpPr>
        <p:spPr>
          <a:xfrm>
            <a:off x="5029200" y="2368296"/>
            <a:ext cx="3383280" cy="502920"/>
          </a:xfrm>
          <a:prstGeom prst="roundRect">
            <a:avLst>
              <a:gd name="adj" fmla="val 5000"/>
            </a:avLst>
          </a:prstGeom>
          <a:solidFill>
            <a:schemeClr val="bg1">
              <a:lumMod val="90000"/>
            </a:schemeClr>
          </a:solidFill>
          <a:ln/>
        </p:spPr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A4FA6C84-3C59-7BAD-344C-D42E3E224A40}"/>
              </a:ext>
            </a:extLst>
          </p:cNvPr>
          <p:cNvSpPr/>
          <p:nvPr/>
        </p:nvSpPr>
        <p:spPr>
          <a:xfrm>
            <a:off x="5120640" y="2226565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newman run EShop_Collection.json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-e EShop_Env.json -r cli,html</a:t>
            </a:r>
            <a:endParaRPr lang="en-US" sz="1000" dirty="0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2EA6E9E1-F4C2-06B6-678C-09C3F9ED2101}"/>
              </a:ext>
            </a:extLst>
          </p:cNvPr>
          <p:cNvSpPr/>
          <p:nvPr/>
        </p:nvSpPr>
        <p:spPr>
          <a:xfrm>
            <a:off x="5029200" y="2807211"/>
            <a:ext cx="3383280" cy="11155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Reporting Formats: 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HTML reports for visual inspection or JUnit XML reports for CI/CD dashboard integration (e.g., Jenkins, GitHub Actions).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00921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8">
            <a:extLst>
              <a:ext uri="{FF2B5EF4-FFF2-40B4-BE49-F238E27FC236}">
                <a16:creationId xmlns:a16="http://schemas.microsoft.com/office/drawing/2014/main" id="{9D30494B-7394-8403-5FD1-519509724A24}"/>
              </a:ext>
            </a:extLst>
          </p:cNvPr>
          <p:cNvSpPr/>
          <p:nvPr/>
        </p:nvSpPr>
        <p:spPr>
          <a:xfrm>
            <a:off x="457200" y="2286000"/>
            <a:ext cx="3931920" cy="640080"/>
          </a:xfrm>
          <a:prstGeom prst="roundRect">
            <a:avLst>
              <a:gd name="adj" fmla="val 5714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17">
            <a:extLst>
              <a:ext uri="{FF2B5EF4-FFF2-40B4-BE49-F238E27FC236}">
                <a16:creationId xmlns:a16="http://schemas.microsoft.com/office/drawing/2014/main" id="{6A9A7D31-8219-B899-5F7B-7FBFA2EC8A21}"/>
              </a:ext>
            </a:extLst>
          </p:cNvPr>
          <p:cNvSpPr/>
          <p:nvPr/>
        </p:nvSpPr>
        <p:spPr>
          <a:xfrm>
            <a:off x="548640" y="2423160"/>
            <a:ext cx="365760" cy="365760"/>
          </a:xfrm>
          <a:prstGeom prst="roundRect">
            <a:avLst>
              <a:gd name="adj" fmla="val 10000"/>
            </a:avLst>
          </a:prstGeom>
          <a:solidFill>
            <a:schemeClr val="bg1">
              <a:lumMod val="90000"/>
            </a:schemeClr>
          </a:solidFill>
          <a:ln/>
        </p:spPr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8AC5333D-92F9-C364-3110-B5E67825ABF6}"/>
              </a:ext>
            </a:extLst>
          </p:cNvPr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Postbot AI in Automated Test Generation</a:t>
            </a:r>
            <a:endParaRPr lang="en-US" sz="2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BA20B12-B3CA-2F87-7D22-3B4590D48B4C}"/>
              </a:ext>
            </a:extLst>
          </p:cNvPr>
          <p:cNvSpPr/>
          <p:nvPr/>
        </p:nvSpPr>
        <p:spPr>
          <a:xfrm>
            <a:off x="803148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11/16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151B78F-D5AB-1379-64A3-0BB00A4F46A9}"/>
              </a:ext>
            </a:extLst>
          </p:cNvPr>
          <p:cNvSpPr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Postbot AI Interaction Flow</a:t>
            </a:r>
            <a:endParaRPr lang="en-US" sz="1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EC54885-2C6A-BAA1-27FD-70A1E89C3C0B}"/>
              </a:ext>
            </a:extLst>
          </p:cNvPr>
          <p:cNvSpPr/>
          <p:nvPr/>
        </p:nvSpPr>
        <p:spPr>
          <a:xfrm>
            <a:off x="457200" y="1554480"/>
            <a:ext cx="3931920" cy="640080"/>
          </a:xfrm>
          <a:prstGeom prst="roundRect">
            <a:avLst>
              <a:gd name="adj" fmla="val 5714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EF2A414F-2196-1611-30F0-FC8F79C2D770}"/>
              </a:ext>
            </a:extLst>
          </p:cNvPr>
          <p:cNvSpPr/>
          <p:nvPr/>
        </p:nvSpPr>
        <p:spPr>
          <a:xfrm>
            <a:off x="1005840" y="16002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request to get an actual sample response.</a:t>
            </a:r>
            <a:endParaRPr lang="en-US" sz="115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F8493F3F-4150-3435-788E-F2A6D538A45E}"/>
              </a:ext>
            </a:extLst>
          </p:cNvPr>
          <p:cNvSpPr/>
          <p:nvPr/>
        </p:nvSpPr>
        <p:spPr>
          <a:xfrm>
            <a:off x="1005840" y="23317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Tests tab and click 'Ask Postbot'.</a:t>
            </a:r>
            <a:endParaRPr lang="en-US" sz="1150" dirty="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1A8A9E0F-9F08-2D12-B6CA-112F35EA3FB1}"/>
              </a:ext>
            </a:extLst>
          </p:cNvPr>
          <p:cNvSpPr/>
          <p:nvPr/>
        </p:nvSpPr>
        <p:spPr>
          <a:xfrm>
            <a:off x="457200" y="3017520"/>
            <a:ext cx="3931920" cy="640080"/>
          </a:xfrm>
          <a:prstGeom prst="roundRect">
            <a:avLst>
              <a:gd name="adj" fmla="val 5714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F3FF383A-0665-90E4-8E2C-B661391CC943}"/>
              </a:ext>
            </a:extLst>
          </p:cNvPr>
          <p:cNvSpPr/>
          <p:nvPr/>
        </p:nvSpPr>
        <p:spPr>
          <a:xfrm>
            <a:off x="1005840" y="30632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natural language query (e.g., 'Test for response').</a:t>
            </a:r>
            <a:endParaRPr lang="en-US" sz="1150" dirty="0"/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45B02344-D83F-04FA-E011-817002C659C5}"/>
              </a:ext>
            </a:extLst>
          </p:cNvPr>
          <p:cNvSpPr/>
          <p:nvPr/>
        </p:nvSpPr>
        <p:spPr>
          <a:xfrm>
            <a:off x="457200" y="3749040"/>
            <a:ext cx="3931920" cy="640080"/>
          </a:xfrm>
          <a:prstGeom prst="roundRect">
            <a:avLst>
              <a:gd name="adj" fmla="val 5714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7">
            <a:extLst>
              <a:ext uri="{FF2B5EF4-FFF2-40B4-BE49-F238E27FC236}">
                <a16:creationId xmlns:a16="http://schemas.microsoft.com/office/drawing/2014/main" id="{E13B70A6-BEDC-60CA-C500-4B6CE962E16C}"/>
              </a:ext>
            </a:extLst>
          </p:cNvPr>
          <p:cNvSpPr/>
          <p:nvPr/>
        </p:nvSpPr>
        <p:spPr>
          <a:xfrm>
            <a:off x="548640" y="3886200"/>
            <a:ext cx="365760" cy="365760"/>
          </a:xfrm>
          <a:prstGeom prst="roundRect">
            <a:avLst>
              <a:gd name="adj" fmla="val 10000"/>
            </a:avLst>
          </a:prstGeom>
          <a:solidFill>
            <a:schemeClr val="bg1">
              <a:lumMod val="90000"/>
            </a:schemeClr>
          </a:solidFill>
          <a:ln/>
        </p:spPr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5089D1A0-DC0F-39C2-3E68-AE2D9962AE18}"/>
              </a:ext>
            </a:extLst>
          </p:cNvPr>
          <p:cNvSpPr/>
          <p:nvPr/>
        </p:nvSpPr>
        <p:spPr>
          <a:xfrm>
            <a:off x="1005840" y="37947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generated JavaScript assertions and save.</a:t>
            </a:r>
            <a:endParaRPr lang="en-US" sz="1150" dirty="0"/>
          </a:p>
        </p:txBody>
      </p:sp>
      <p:sp>
        <p:nvSpPr>
          <p:cNvPr id="18" name="Shape 20">
            <a:extLst>
              <a:ext uri="{FF2B5EF4-FFF2-40B4-BE49-F238E27FC236}">
                <a16:creationId xmlns:a16="http://schemas.microsoft.com/office/drawing/2014/main" id="{77B7A54F-A9EF-9437-2067-9E0710AF4642}"/>
              </a:ext>
            </a:extLst>
          </p:cNvPr>
          <p:cNvSpPr/>
          <p:nvPr/>
        </p:nvSpPr>
        <p:spPr>
          <a:xfrm>
            <a:off x="4754880" y="10972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21">
            <a:extLst>
              <a:ext uri="{FF2B5EF4-FFF2-40B4-BE49-F238E27FC236}">
                <a16:creationId xmlns:a16="http://schemas.microsoft.com/office/drawing/2014/main" id="{31E6402C-B428-8010-5C79-4844B35A183F}"/>
              </a:ext>
            </a:extLst>
          </p:cNvPr>
          <p:cNvSpPr/>
          <p:nvPr/>
        </p:nvSpPr>
        <p:spPr>
          <a:xfrm>
            <a:off x="4754880" y="1097280"/>
            <a:ext cx="3931920" cy="73152"/>
          </a:xfrm>
          <a:prstGeom prst="rect">
            <a:avLst/>
          </a:prstGeom>
          <a:solidFill>
            <a:schemeClr val="bg1">
              <a:lumMod val="25000"/>
            </a:schemeClr>
          </a:solidFill>
          <a:ln/>
        </p:spPr>
      </p:sp>
      <p:sp>
        <p:nvSpPr>
          <p:cNvPr id="20" name="Text 22">
            <a:extLst>
              <a:ext uri="{FF2B5EF4-FFF2-40B4-BE49-F238E27FC236}">
                <a16:creationId xmlns:a16="http://schemas.microsoft.com/office/drawing/2014/main" id="{37C78A74-A695-AF5C-E27E-775D946FD2D3}"/>
              </a:ext>
            </a:extLst>
          </p:cNvPr>
          <p:cNvSpPr/>
          <p:nvPr/>
        </p:nvSpPr>
        <p:spPr>
          <a:xfrm>
            <a:off x="5029200" y="1280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>
                    <a:lumMod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Prompting Power</a:t>
            </a:r>
            <a:endParaRPr lang="en-US" sz="1800" dirty="0">
              <a:solidFill>
                <a:schemeClr val="bg1">
                  <a:lumMod val="25000"/>
                </a:schemeClr>
              </a:solidFill>
            </a:endParaRPr>
          </a:p>
        </p:txBody>
      </p:sp>
      <p:sp>
        <p:nvSpPr>
          <p:cNvPr id="21" name="Text 23">
            <a:extLst>
              <a:ext uri="{FF2B5EF4-FFF2-40B4-BE49-F238E27FC236}">
                <a16:creationId xmlns:a16="http://schemas.microsoft.com/office/drawing/2014/main" id="{0049FAD2-98B6-559F-97DF-6451354099AC}"/>
              </a:ext>
            </a:extLst>
          </p:cNvPr>
          <p:cNvSpPr/>
          <p:nvPr/>
        </p:nvSpPr>
        <p:spPr>
          <a:xfrm>
            <a:off x="5029200" y="17373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default mode, Postbot only checks basic types. To test business logic, write specific calculations:</a:t>
            </a:r>
            <a:endParaRPr lang="en-US" sz="1200" dirty="0"/>
          </a:p>
        </p:txBody>
      </p:sp>
      <p:sp>
        <p:nvSpPr>
          <p:cNvPr id="22" name="Shape 24">
            <a:extLst>
              <a:ext uri="{FF2B5EF4-FFF2-40B4-BE49-F238E27FC236}">
                <a16:creationId xmlns:a16="http://schemas.microsoft.com/office/drawing/2014/main" id="{46F08A82-8C82-F653-DEBF-2134FE17D03D}"/>
              </a:ext>
            </a:extLst>
          </p:cNvPr>
          <p:cNvSpPr/>
          <p:nvPr/>
        </p:nvSpPr>
        <p:spPr>
          <a:xfrm>
            <a:off x="5029200" y="2651760"/>
            <a:ext cx="3383280" cy="9144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</p:sp>
      <p:sp>
        <p:nvSpPr>
          <p:cNvPr id="26" name="Shape 17">
            <a:extLst>
              <a:ext uri="{FF2B5EF4-FFF2-40B4-BE49-F238E27FC236}">
                <a16:creationId xmlns:a16="http://schemas.microsoft.com/office/drawing/2014/main" id="{4A331E25-C14D-850B-E2D1-426355ECDDA0}"/>
              </a:ext>
            </a:extLst>
          </p:cNvPr>
          <p:cNvSpPr/>
          <p:nvPr/>
        </p:nvSpPr>
        <p:spPr>
          <a:xfrm>
            <a:off x="548640" y="3154680"/>
            <a:ext cx="365760" cy="365760"/>
          </a:xfrm>
          <a:prstGeom prst="roundRect">
            <a:avLst>
              <a:gd name="adj" fmla="val 10000"/>
            </a:avLst>
          </a:prstGeom>
          <a:solidFill>
            <a:schemeClr val="bg1">
              <a:lumMod val="90000"/>
            </a:schemeClr>
          </a:solidFill>
          <a:ln/>
        </p:spPr>
      </p:sp>
      <p:sp>
        <p:nvSpPr>
          <p:cNvPr id="23" name="Text 25">
            <a:extLst>
              <a:ext uri="{FF2B5EF4-FFF2-40B4-BE49-F238E27FC236}">
                <a16:creationId xmlns:a16="http://schemas.microsoft.com/office/drawing/2014/main" id="{1166017C-4467-DD69-F627-8CF6C9352486}"/>
              </a:ext>
            </a:extLst>
          </p:cNvPr>
          <p:cNvSpPr/>
          <p:nvPr/>
        </p:nvSpPr>
        <p:spPr>
          <a:xfrm>
            <a:off x="5120640" y="26517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chemeClr val="bg1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sent to Postbot:</a:t>
            </a:r>
            <a:endParaRPr lang="en-US" sz="1050" dirty="0">
              <a:solidFill>
                <a:schemeClr val="bg1">
                  <a:lumMod val="10000"/>
                </a:schemeClr>
              </a:solidFill>
            </a:endParaRPr>
          </a:p>
          <a:p>
            <a:pPr marL="0" indent="0">
              <a:buNone/>
            </a:pPr>
            <a:r>
              <a:rPr lang="en-US" sz="1050" i="1" dirty="0">
                <a:solidFill>
                  <a:schemeClr val="bg1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test that calculates the expected discount as total_amount * 10 / 100 for a percent coupon, and asserts discount_amount matches this calculation."</a:t>
            </a:r>
            <a:endParaRPr lang="en-US" sz="105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24" name="Text 26">
            <a:extLst>
              <a:ext uri="{FF2B5EF4-FFF2-40B4-BE49-F238E27FC236}">
                <a16:creationId xmlns:a16="http://schemas.microsoft.com/office/drawing/2014/main" id="{579A256F-4FAD-F331-6156-86D3AFE9E7E5}"/>
              </a:ext>
            </a:extLst>
          </p:cNvPr>
          <p:cNvSpPr/>
          <p:nvPr/>
        </p:nvSpPr>
        <p:spPr>
          <a:xfrm>
            <a:off x="5029200" y="36576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custom guidance, Postbot writes logical code instead of simple type checks.</a:t>
            </a:r>
            <a:endParaRPr lang="en-US" sz="1150" dirty="0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75B92F25-8191-BB2B-3186-DCDEF9AEEE08}"/>
              </a:ext>
            </a:extLst>
          </p:cNvPr>
          <p:cNvSpPr/>
          <p:nvPr/>
        </p:nvSpPr>
        <p:spPr>
          <a:xfrm>
            <a:off x="54864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DBBFC209-9920-18B0-4234-BC2A1B408720}"/>
              </a:ext>
            </a:extLst>
          </p:cNvPr>
          <p:cNvSpPr/>
          <p:nvPr/>
        </p:nvSpPr>
        <p:spPr>
          <a:xfrm>
            <a:off x="54864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7B7EEE1D-C35D-56DB-1026-DD57F35C0539}"/>
              </a:ext>
            </a:extLst>
          </p:cNvPr>
          <p:cNvSpPr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Shape 17">
            <a:extLst>
              <a:ext uri="{FF2B5EF4-FFF2-40B4-BE49-F238E27FC236}">
                <a16:creationId xmlns:a16="http://schemas.microsoft.com/office/drawing/2014/main" id="{1983FB6D-EF9E-573A-EF2A-E3C5249F89FF}"/>
              </a:ext>
            </a:extLst>
          </p:cNvPr>
          <p:cNvSpPr/>
          <p:nvPr/>
        </p:nvSpPr>
        <p:spPr>
          <a:xfrm>
            <a:off x="548640" y="1691640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E8EFFC"/>
          </a:solidFill>
          <a:ln/>
        </p:spPr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00572E5D-A88A-8EA6-D0BA-0F931C90FEDC}"/>
              </a:ext>
            </a:extLst>
          </p:cNvPr>
          <p:cNvSpPr/>
          <p:nvPr/>
        </p:nvSpPr>
        <p:spPr>
          <a:xfrm>
            <a:off x="548640" y="1691640"/>
            <a:ext cx="365760" cy="365760"/>
          </a:xfrm>
          <a:prstGeom prst="rect">
            <a:avLst/>
          </a:prstGeom>
          <a:solidFill>
            <a:schemeClr val="bg1">
              <a:lumMod val="90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9951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080CF3EC-26FE-3C55-539F-B2BFF196A99E}"/>
              </a:ext>
            </a:extLst>
          </p:cNvPr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Postbot AI</a:t>
            </a:r>
            <a:endParaRPr lang="en-US" sz="240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C72D1028-9046-C924-11E6-FDBFF0FB461C}"/>
              </a:ext>
            </a:extLst>
          </p:cNvPr>
          <p:cNvSpPr/>
          <p:nvPr/>
        </p:nvSpPr>
        <p:spPr>
          <a:xfrm>
            <a:off x="804672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12/16</a:t>
            </a:r>
            <a:endParaRPr lang="en-US" sz="1100" dirty="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4F6C5A23-0483-1285-EC81-A83A9B0DFE6A}"/>
              </a:ext>
            </a:extLst>
          </p:cNvPr>
          <p:cNvSpPr/>
          <p:nvPr/>
        </p:nvSpPr>
        <p:spPr>
          <a:xfrm>
            <a:off x="457200" y="1097280"/>
            <a:ext cx="2560320" cy="3566160"/>
          </a:xfrm>
          <a:prstGeom prst="roundRect">
            <a:avLst>
              <a:gd name="adj" fmla="val 2857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E83A17F5-578E-4A1A-4989-120A4895339C}"/>
              </a:ext>
            </a:extLst>
          </p:cNvPr>
          <p:cNvSpPr/>
          <p:nvPr/>
        </p:nvSpPr>
        <p:spPr>
          <a:xfrm>
            <a:off x="457200" y="1097280"/>
            <a:ext cx="256032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75BB65A2-ECB3-3FF8-1E26-1B654574AB5C}"/>
              </a:ext>
            </a:extLst>
          </p:cNvPr>
          <p:cNvSpPr/>
          <p:nvPr/>
        </p:nvSpPr>
        <p:spPr>
          <a:xfrm>
            <a:off x="640080" y="128016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FEF2F2"/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AC7DF3E1-D850-DDA3-D768-F142CEF109AC}"/>
              </a:ext>
            </a:extLst>
          </p:cNvPr>
          <p:cNvSpPr/>
          <p:nvPr/>
        </p:nvSpPr>
        <p:spPr>
          <a:xfrm>
            <a:off x="640080" y="1280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95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5079213D-BEAA-B288-E09B-13A5F6180F8B}"/>
              </a:ext>
            </a:extLst>
          </p:cNvPr>
          <p:cNvSpPr/>
          <p:nvPr/>
        </p:nvSpPr>
        <p:spPr>
          <a:xfrm>
            <a:off x="640080" y="1691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Happy-Path Focus</a:t>
            </a:r>
            <a:endParaRPr lang="en-US" sz="15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8275613B-0724-1C0C-7090-3534A3A653FB}"/>
              </a:ext>
            </a:extLst>
          </p:cNvPr>
          <p:cNvSpPr/>
          <p:nvPr/>
        </p:nvSpPr>
        <p:spPr>
          <a:xfrm>
            <a:off x="640080" y="210312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Postbot is heavily biased towards generating successful (status 200/201) tests. It completely misses negative error paths and edge cases where business logic bugs usually reside.</a:t>
            </a:r>
            <a:endParaRPr lang="en-US" sz="1100" dirty="0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3E5D2D0E-551A-D705-D8B4-7FAFE74A4A98}"/>
              </a:ext>
            </a:extLst>
          </p:cNvPr>
          <p:cNvSpPr/>
          <p:nvPr/>
        </p:nvSpPr>
        <p:spPr>
          <a:xfrm>
            <a:off x="3291840" y="1097280"/>
            <a:ext cx="2560320" cy="3566160"/>
          </a:xfrm>
          <a:prstGeom prst="roundRect">
            <a:avLst>
              <a:gd name="adj" fmla="val 2857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0A44E0CA-1411-4016-182F-59A041E5601C}"/>
              </a:ext>
            </a:extLst>
          </p:cNvPr>
          <p:cNvSpPr/>
          <p:nvPr/>
        </p:nvSpPr>
        <p:spPr>
          <a:xfrm>
            <a:off x="3291840" y="1097280"/>
            <a:ext cx="256032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D418F658-43B6-EBF6-BC2D-D7E2CFA0FBD8}"/>
              </a:ext>
            </a:extLst>
          </p:cNvPr>
          <p:cNvSpPr/>
          <p:nvPr/>
        </p:nvSpPr>
        <p:spPr>
          <a:xfrm>
            <a:off x="3474720" y="1691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Dependency</a:t>
            </a:r>
            <a:endParaRPr lang="en-US" sz="1500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18CEC46C-1ACB-7052-EB4D-CB7A29459846}"/>
              </a:ext>
            </a:extLst>
          </p:cNvPr>
          <p:cNvSpPr/>
          <p:nvPr/>
        </p:nvSpPr>
        <p:spPr>
          <a:xfrm>
            <a:off x="3474720" y="210312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works by analyzing the active sample response. If the request has not been run, or if the server is down, Postbot cannot generate assertions.</a:t>
            </a:r>
            <a:endParaRPr lang="en-US" sz="1100" dirty="0"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3758DAB9-F032-FB2A-BD9E-6B27822847BF}"/>
              </a:ext>
            </a:extLst>
          </p:cNvPr>
          <p:cNvSpPr/>
          <p:nvPr/>
        </p:nvSpPr>
        <p:spPr>
          <a:xfrm>
            <a:off x="6126480" y="1097280"/>
            <a:ext cx="2560320" cy="3566160"/>
          </a:xfrm>
          <a:prstGeom prst="roundRect">
            <a:avLst>
              <a:gd name="adj" fmla="val 2857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16">
            <a:extLst>
              <a:ext uri="{FF2B5EF4-FFF2-40B4-BE49-F238E27FC236}">
                <a16:creationId xmlns:a16="http://schemas.microsoft.com/office/drawing/2014/main" id="{A42151A8-A696-FDCE-3A44-54C1EBE4E464}"/>
              </a:ext>
            </a:extLst>
          </p:cNvPr>
          <p:cNvSpPr/>
          <p:nvPr/>
        </p:nvSpPr>
        <p:spPr>
          <a:xfrm>
            <a:off x="6126480" y="1097280"/>
            <a:ext cx="256032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B66455AA-ED26-2484-BA90-AD9471C1EB24}"/>
              </a:ext>
            </a:extLst>
          </p:cNvPr>
          <p:cNvSpPr/>
          <p:nvPr/>
        </p:nvSpPr>
        <p:spPr>
          <a:xfrm>
            <a:off x="3474720" y="128016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FEF2F2"/>
          </a:solidFill>
          <a:ln/>
        </p:spPr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12265A60-B4D9-5CB9-B133-EFD4658B9FED}"/>
              </a:ext>
            </a:extLst>
          </p:cNvPr>
          <p:cNvSpPr/>
          <p:nvPr/>
        </p:nvSpPr>
        <p:spPr>
          <a:xfrm>
            <a:off x="6309360" y="1691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Business Logic Concept</a:t>
            </a:r>
            <a:endParaRPr lang="en-US" sz="1500" dirty="0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BFC37135-F80F-6D07-B2E8-1AF01DE88A4E}"/>
              </a:ext>
            </a:extLst>
          </p:cNvPr>
          <p:cNvSpPr/>
          <p:nvPr/>
        </p:nvSpPr>
        <p:spPr>
          <a:xfrm>
            <a:off x="6309360" y="210312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default, AI only checks surface-level structure (strings, numbers). It cannot verify numerical correctness or stateful business rules without custom prompts.</a:t>
            </a:r>
            <a:endParaRPr lang="en-US" sz="1100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F57A70B9-67F7-B763-BE34-0FA70913CA76}"/>
              </a:ext>
            </a:extLst>
          </p:cNvPr>
          <p:cNvSpPr/>
          <p:nvPr/>
        </p:nvSpPr>
        <p:spPr>
          <a:xfrm>
            <a:off x="3474720" y="1280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950" dirty="0"/>
          </a:p>
        </p:txBody>
      </p:sp>
      <p:sp>
        <p:nvSpPr>
          <p:cNvPr id="28" name="Shape 5">
            <a:extLst>
              <a:ext uri="{FF2B5EF4-FFF2-40B4-BE49-F238E27FC236}">
                <a16:creationId xmlns:a16="http://schemas.microsoft.com/office/drawing/2014/main" id="{7978B6E6-8A25-7AA5-6985-73E1DF757F59}"/>
              </a:ext>
            </a:extLst>
          </p:cNvPr>
          <p:cNvSpPr/>
          <p:nvPr/>
        </p:nvSpPr>
        <p:spPr>
          <a:xfrm>
            <a:off x="6309360" y="128016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FEF2F2"/>
          </a:solidFill>
          <a:ln/>
        </p:spPr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8A85716A-B2D4-22FB-8EC4-BCE27A7AA6EB}"/>
              </a:ext>
            </a:extLst>
          </p:cNvPr>
          <p:cNvSpPr/>
          <p:nvPr/>
        </p:nvSpPr>
        <p:spPr>
          <a:xfrm>
            <a:off x="6309360" y="1280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108466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>
            <a:extLst>
              <a:ext uri="{FF2B5EF4-FFF2-40B4-BE49-F238E27FC236}">
                <a16:creationId xmlns:a16="http://schemas.microsoft.com/office/drawing/2014/main" id="{3E9E59DF-4A64-11E2-3CCF-0DCA4D9D1C97}"/>
              </a:ext>
            </a:extLst>
          </p:cNvPr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 — 3 Ways Tools Mislead You</a:t>
            </a:r>
            <a:endParaRPr lang="en-US" sz="2400" dirty="0"/>
          </a:p>
        </p:txBody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1D2F8AA4-53CE-8B0D-68A9-F9C4BD72C4FB}"/>
              </a:ext>
            </a:extLst>
          </p:cNvPr>
          <p:cNvSpPr/>
          <p:nvPr/>
        </p:nvSpPr>
        <p:spPr>
          <a:xfrm>
            <a:off x="77724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13/16</a:t>
            </a:r>
            <a:endParaRPr lang="en-US" sz="1100" dirty="0"/>
          </a:p>
        </p:txBody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1A1BDE05-927F-D947-9E92-17C031E38453}"/>
              </a:ext>
            </a:extLst>
          </p:cNvPr>
          <p:cNvSpPr/>
          <p:nvPr/>
        </p:nvSpPr>
        <p:spPr>
          <a:xfrm>
            <a:off x="457200" y="1097280"/>
            <a:ext cx="2560320" cy="3566160"/>
          </a:xfrm>
          <a:prstGeom prst="roundRect">
            <a:avLst>
              <a:gd name="adj" fmla="val 2857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4">
            <a:extLst>
              <a:ext uri="{FF2B5EF4-FFF2-40B4-BE49-F238E27FC236}">
                <a16:creationId xmlns:a16="http://schemas.microsoft.com/office/drawing/2014/main" id="{D3F5D367-467B-5EF3-89E1-0767E7A6E732}"/>
              </a:ext>
            </a:extLst>
          </p:cNvPr>
          <p:cNvSpPr/>
          <p:nvPr/>
        </p:nvSpPr>
        <p:spPr>
          <a:xfrm>
            <a:off x="457200" y="1097280"/>
            <a:ext cx="54864" cy="3566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A4B404D1-4391-2D05-B47F-E048EDD0ABAD}"/>
              </a:ext>
            </a:extLst>
          </p:cNvPr>
          <p:cNvSpPr/>
          <p:nvPr/>
        </p:nvSpPr>
        <p:spPr>
          <a:xfrm>
            <a:off x="640080" y="1280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FM1</a:t>
            </a:r>
            <a:endParaRPr lang="en-US" sz="1500" dirty="0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0B3199E5-E336-07B6-7586-8934033EBC30}"/>
              </a:ext>
            </a:extLst>
          </p:cNvPr>
          <p:cNvSpPr/>
          <p:nvPr/>
        </p:nvSpPr>
        <p:spPr>
          <a:xfrm>
            <a:off x="640080" y="1554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Anchoring on Buggy Response</a:t>
            </a:r>
            <a:endParaRPr lang="en-US" sz="1450" dirty="0"/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198953E4-95D2-4E20-9B4B-6D3A6F8B2A58}"/>
              </a:ext>
            </a:extLst>
          </p:cNvPr>
          <p:cNvSpPr/>
          <p:nvPr/>
        </p:nvSpPr>
        <p:spPr>
          <a:xfrm>
            <a:off x="640080" y="210312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Postbot 'learns' and locks in server bugs instead of catching them. If the sample response has wrong calculations (e.g., negative discount `-4,500,000₫`), Postbot writes tests validating this bug as correct behavior.</a:t>
            </a:r>
            <a:endParaRPr lang="en-US" sz="1080" dirty="0"/>
          </a:p>
        </p:txBody>
      </p:sp>
      <p:sp>
        <p:nvSpPr>
          <p:cNvPr id="36" name="Shape 8">
            <a:extLst>
              <a:ext uri="{FF2B5EF4-FFF2-40B4-BE49-F238E27FC236}">
                <a16:creationId xmlns:a16="http://schemas.microsoft.com/office/drawing/2014/main" id="{644BF62C-9F3B-14B0-81E9-C8AC5B04C70C}"/>
              </a:ext>
            </a:extLst>
          </p:cNvPr>
          <p:cNvSpPr/>
          <p:nvPr/>
        </p:nvSpPr>
        <p:spPr>
          <a:xfrm>
            <a:off x="3291840" y="1097280"/>
            <a:ext cx="2560320" cy="3566160"/>
          </a:xfrm>
          <a:prstGeom prst="roundRect">
            <a:avLst>
              <a:gd name="adj" fmla="val 2857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9">
            <a:extLst>
              <a:ext uri="{FF2B5EF4-FFF2-40B4-BE49-F238E27FC236}">
                <a16:creationId xmlns:a16="http://schemas.microsoft.com/office/drawing/2014/main" id="{CB22EE16-C637-1515-207D-63FBE8A80302}"/>
              </a:ext>
            </a:extLst>
          </p:cNvPr>
          <p:cNvSpPr/>
          <p:nvPr/>
        </p:nvSpPr>
        <p:spPr>
          <a:xfrm>
            <a:off x="3291840" y="1097280"/>
            <a:ext cx="54864" cy="3566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BD499E1B-6071-3A0E-A874-E4D966C111E0}"/>
              </a:ext>
            </a:extLst>
          </p:cNvPr>
          <p:cNvSpPr/>
          <p:nvPr/>
        </p:nvSpPr>
        <p:spPr>
          <a:xfrm>
            <a:off x="3474720" y="1280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FM2</a:t>
            </a:r>
            <a:endParaRPr lang="en-US" sz="1500" dirty="0"/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B8E4D2BD-80D2-43D2-856D-736331976B94}"/>
              </a:ext>
            </a:extLst>
          </p:cNvPr>
          <p:cNvSpPr/>
          <p:nvPr/>
        </p:nvSpPr>
        <p:spPr>
          <a:xfrm>
            <a:off x="3474720" y="1554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Superficial Error Testing</a:t>
            </a:r>
            <a:endParaRPr lang="en-US" sz="1450" dirty="0"/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28FC29DB-CD25-D370-7DCF-BB16D607E057}"/>
              </a:ext>
            </a:extLst>
          </p:cNvPr>
          <p:cNvSpPr/>
          <p:nvPr/>
        </p:nvSpPr>
        <p:spPr>
          <a:xfrm>
            <a:off x="3474720" y="210312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error tests only check if the `error` property is a string, completely ignoring whether the error message matches the actual business context or stateful limits.</a:t>
            </a:r>
            <a:endParaRPr lang="en-US" sz="1080" dirty="0"/>
          </a:p>
        </p:txBody>
      </p:sp>
      <p:sp>
        <p:nvSpPr>
          <p:cNvPr id="41" name="Shape 13">
            <a:extLst>
              <a:ext uri="{FF2B5EF4-FFF2-40B4-BE49-F238E27FC236}">
                <a16:creationId xmlns:a16="http://schemas.microsoft.com/office/drawing/2014/main" id="{45A3E176-5A4D-8F86-6A9C-B8455EF39B79}"/>
              </a:ext>
            </a:extLst>
          </p:cNvPr>
          <p:cNvSpPr/>
          <p:nvPr/>
        </p:nvSpPr>
        <p:spPr>
          <a:xfrm>
            <a:off x="6126480" y="1097280"/>
            <a:ext cx="2560320" cy="3566160"/>
          </a:xfrm>
          <a:prstGeom prst="roundRect">
            <a:avLst>
              <a:gd name="adj" fmla="val 2857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14">
            <a:extLst>
              <a:ext uri="{FF2B5EF4-FFF2-40B4-BE49-F238E27FC236}">
                <a16:creationId xmlns:a16="http://schemas.microsoft.com/office/drawing/2014/main" id="{74ED4E8C-12D3-D93A-EC64-6B39A14BC162}"/>
              </a:ext>
            </a:extLst>
          </p:cNvPr>
          <p:cNvSpPr/>
          <p:nvPr/>
        </p:nvSpPr>
        <p:spPr>
          <a:xfrm>
            <a:off x="6126480" y="1097280"/>
            <a:ext cx="54864" cy="3566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A1933D84-C45F-361D-5B3F-723FF43FDFD2}"/>
              </a:ext>
            </a:extLst>
          </p:cNvPr>
          <p:cNvSpPr/>
          <p:nvPr/>
        </p:nvSpPr>
        <p:spPr>
          <a:xfrm>
            <a:off x="6309360" y="1280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FM3</a:t>
            </a:r>
            <a:endParaRPr lang="en-US" sz="1500" dirty="0"/>
          </a:p>
        </p:txBody>
      </p:sp>
      <p:sp>
        <p:nvSpPr>
          <p:cNvPr id="44" name="Text 16">
            <a:extLst>
              <a:ext uri="{FF2B5EF4-FFF2-40B4-BE49-F238E27FC236}">
                <a16:creationId xmlns:a16="http://schemas.microsoft.com/office/drawing/2014/main" id="{D06ED842-7814-BEC7-FD16-CB9B3B6D22BC}"/>
              </a:ext>
            </a:extLst>
          </p:cNvPr>
          <p:cNvSpPr/>
          <p:nvPr/>
        </p:nvSpPr>
        <p:spPr>
          <a:xfrm>
            <a:off x="6309360" y="1554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Environment Mismatch</a:t>
            </a:r>
            <a:endParaRPr lang="en-US" sz="1450" dirty="0"/>
          </a:p>
        </p:txBody>
      </p:sp>
      <p:sp>
        <p:nvSpPr>
          <p:cNvPr id="45" name="Text 17">
            <a:extLst>
              <a:ext uri="{FF2B5EF4-FFF2-40B4-BE49-F238E27FC236}">
                <a16:creationId xmlns:a16="http://schemas.microsoft.com/office/drawing/2014/main" id="{6EAE0DB3-C8F1-89E0-F379-D340565A81AF}"/>
              </a:ext>
            </a:extLst>
          </p:cNvPr>
          <p:cNvSpPr/>
          <p:nvPr/>
        </p:nvSpPr>
        <p:spPr>
          <a:xfrm>
            <a:off x="6309360" y="210312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Runner's environment selector is separate from the main workspace. Mismatched active environments cause variable resolution failures, which the Runner hides.</a:t>
            </a:r>
            <a:endParaRPr lang="en-US" sz="1080" dirty="0"/>
          </a:p>
        </p:txBody>
      </p:sp>
    </p:spTree>
    <p:extLst>
      <p:ext uri="{BB962C8B-B14F-4D97-AF65-F5344CB8AC3E}">
        <p14:creationId xmlns:p14="http://schemas.microsoft.com/office/powerpoint/2010/main" val="1134113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BA0C014B-D91E-B3AB-63AD-EE2960C49540}"/>
              </a:ext>
            </a:extLst>
          </p:cNvPr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vs. Pact Comparison (Contract Testing)</a:t>
            </a:r>
            <a:endParaRPr lang="en-US" sz="2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AECC68C-3B18-FC6B-DBCF-0BC87A057941}"/>
              </a:ext>
            </a:extLst>
          </p:cNvPr>
          <p:cNvSpPr/>
          <p:nvPr/>
        </p:nvSpPr>
        <p:spPr>
          <a:xfrm>
            <a:off x="802386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14/16</a:t>
            </a:r>
            <a:endParaRPr lang="en-US" sz="1100" dirty="0"/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A3764C97-72A3-62BA-FCF3-DBDCF5CD74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078866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 Aspect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Postman (Lightweight Contract)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Pact (Dedicated CDC Framework)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Architecture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Monolith (EShop SUT), small to medium codebases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Highly distributed Microservices architecture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Mechanism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Schema validation within post-response scripts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Contracts (.json) published to Pact Broker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&amp; Infrastructure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Extremely simple, no infrastructure required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Complex, requires Pact Broker host &amp; mock frameworks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Curve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Low, uses standard JavaScript/Chai.js scripts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High, requires understanding consumer-driven contract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 for SUT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 CHOICE (Fits EShop monolith scale)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Overkill (Not needed for monolithic codebase)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>
            <a:extLst>
              <a:ext uri="{FF2B5EF4-FFF2-40B4-BE49-F238E27FC236}">
                <a16:creationId xmlns:a16="http://schemas.microsoft.com/office/drawing/2014/main" id="{C4066180-D7CF-046D-E427-FE2E613C2417}"/>
              </a:ext>
            </a:extLst>
          </p:cNvPr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Verdict: Postman delivers quick interface validation at minimum cost for monolithic or independent development teams.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94231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>
            <a:extLst>
              <a:ext uri="{FF2B5EF4-FFF2-40B4-BE49-F238E27FC236}">
                <a16:creationId xmlns:a16="http://schemas.microsoft.com/office/drawing/2014/main" id="{DB83EFC1-2DE5-C85B-C393-5CC917FB5A7B}"/>
              </a:ext>
            </a:extLst>
          </p:cNvPr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Preview — Real-World Scenario</a:t>
            </a:r>
            <a:endParaRPr lang="en-US" sz="24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C3B9B1E7-B83B-363D-0F54-9692110B4A61}"/>
              </a:ext>
            </a:extLst>
          </p:cNvPr>
          <p:cNvSpPr/>
          <p:nvPr/>
        </p:nvSpPr>
        <p:spPr>
          <a:xfrm>
            <a:off x="77724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15/16</a:t>
            </a:r>
            <a:endParaRPr lang="en-US" sz="1100" dirty="0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3FDB1FE4-7B3E-688F-AA9A-EE1E215CD80E}"/>
              </a:ext>
            </a:extLst>
          </p:cNvPr>
          <p:cNvSpPr/>
          <p:nvPr/>
        </p:nvSpPr>
        <p:spPr>
          <a:xfrm>
            <a:off x="457200" y="10972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08A2A21F-3759-3236-1D13-81536656C82F}"/>
              </a:ext>
            </a:extLst>
          </p:cNvPr>
          <p:cNvSpPr/>
          <p:nvPr/>
        </p:nvSpPr>
        <p:spPr>
          <a:xfrm>
            <a:off x="457200" y="1097280"/>
            <a:ext cx="3931920" cy="73152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2EAB2E31-11DC-ADD1-29F2-71B0AB548C88}"/>
              </a:ext>
            </a:extLst>
          </p:cNvPr>
          <p:cNvSpPr/>
          <p:nvPr/>
        </p:nvSpPr>
        <p:spPr>
          <a:xfrm>
            <a:off x="731520" y="1280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Integration Flow (Success Path)</a:t>
            </a:r>
            <a:endParaRPr lang="en-US" sz="1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5AF8D234-9050-0013-2A27-40D08756ECFA}"/>
              </a:ext>
            </a:extLst>
          </p:cNvPr>
          <p:cNvSpPr/>
          <p:nvPr/>
        </p:nvSpPr>
        <p:spPr>
          <a:xfrm>
            <a:off x="731520" y="173736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Demonstrate variable chaining and flow execution via Collection Runner: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Authentication (POST /api/login)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└&gt; Extracts and auto-saves token to {{auth_token}}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View Product Details (GET /api/products/:id)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└&gt; Extracts product ID dynamically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Add to Cart (POST /api/cart)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Checkout (POST /api/checkout)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Verifies that all endpoints return matching schemas.</a:t>
            </a:r>
            <a:endParaRPr lang="en-US" sz="120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1AD04D95-F379-CDA0-CF69-A2B24A0EFFB4}"/>
              </a:ext>
            </a:extLst>
          </p:cNvPr>
          <p:cNvSpPr/>
          <p:nvPr/>
        </p:nvSpPr>
        <p:spPr>
          <a:xfrm>
            <a:off x="4754880" y="10972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8BE1B9DF-369C-DE13-7EA2-96B4FDCC1714}"/>
              </a:ext>
            </a:extLst>
          </p:cNvPr>
          <p:cNvSpPr/>
          <p:nvPr/>
        </p:nvSpPr>
        <p:spPr>
          <a:xfrm>
            <a:off x="4754880" y="1097280"/>
            <a:ext cx="393192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B60CC7D9-BB6C-EE84-81DD-C52BD124316D}"/>
              </a:ext>
            </a:extLst>
          </p:cNvPr>
          <p:cNvSpPr/>
          <p:nvPr/>
        </p:nvSpPr>
        <p:spPr>
          <a:xfrm>
            <a:off x="5029200" y="1280160"/>
            <a:ext cx="34823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Captured via Negative Contract</a:t>
            </a:r>
            <a:endParaRPr lang="en-US" sz="1700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8B8B33B7-4003-0E53-8826-270439A332B9}"/>
              </a:ext>
            </a:extLst>
          </p:cNvPr>
          <p:cNvSpPr/>
          <p:nvPr/>
        </p:nvSpPr>
        <p:spPr>
          <a:xfrm>
            <a:off x="5029200" y="173736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Expose interface contract violations on EShop SUT using edge cases: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Request: Retrieve nonexistent product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`GET /api/products/999`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Expected Contract Behavior: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Status code `404 Not Found` with a structured error envelope.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SUT Bug Detected: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`200 OK` with an empty response body, representing a broken contract that could crash client apps.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76607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>
            <a:extLst>
              <a:ext uri="{FF2B5EF4-FFF2-40B4-BE49-F238E27FC236}">
                <a16:creationId xmlns:a16="http://schemas.microsoft.com/office/drawing/2014/main" id="{8A02A0AD-FCD9-B760-B389-83761481DB28}"/>
              </a:ext>
            </a:extLst>
          </p:cNvPr>
          <p:cNvSpPr/>
          <p:nvPr/>
        </p:nvSpPr>
        <p:spPr>
          <a:xfrm>
            <a:off x="7772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Q&amp;A</a:t>
            </a:r>
            <a:endParaRPr lang="en-US" sz="240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9D6F2090-72EF-BDAE-C54A-60B5FDC87E96}"/>
              </a:ext>
            </a:extLst>
          </p:cNvPr>
          <p:cNvSpPr/>
          <p:nvPr/>
        </p:nvSpPr>
        <p:spPr>
          <a:xfrm>
            <a:off x="809244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16/16</a:t>
            </a:r>
            <a:endParaRPr lang="en-US" sz="1100" dirty="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897D87E1-27F0-001E-03CD-B22577393131}"/>
              </a:ext>
            </a:extLst>
          </p:cNvPr>
          <p:cNvSpPr/>
          <p:nvPr/>
        </p:nvSpPr>
        <p:spPr>
          <a:xfrm>
            <a:off x="457200" y="109728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3B6F9618-BB1E-F8C5-CE8F-74D20A7C82F1}"/>
              </a:ext>
            </a:extLst>
          </p:cNvPr>
          <p:cNvSpPr/>
          <p:nvPr/>
        </p:nvSpPr>
        <p:spPr>
          <a:xfrm>
            <a:off x="457200" y="1097280"/>
            <a:ext cx="2560320" cy="54864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BA928AB5-2DC8-189F-54D9-106EB3C18881}"/>
              </a:ext>
            </a:extLst>
          </p:cNvPr>
          <p:cNvSpPr/>
          <p:nvPr/>
        </p:nvSpPr>
        <p:spPr>
          <a:xfrm>
            <a:off x="594360" y="1234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Postman Right</a:t>
            </a:r>
            <a:endParaRPr lang="en-US" sz="14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1105F752-79B3-EAB6-347D-53BB5CF9C698}"/>
              </a:ext>
            </a:extLst>
          </p:cNvPr>
          <p:cNvSpPr/>
          <p:nvPr/>
        </p:nvSpPr>
        <p:spPr>
          <a:xfrm>
            <a:off x="594360" y="164592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beyond manual API calls. Leverage pre-request/post-response scripts, runners, and Newman for complete automation.</a:t>
            </a:r>
            <a:endParaRPr lang="en-US" sz="1100" dirty="0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7139CDCE-E2EC-6EC5-9372-5EA2548D371D}"/>
              </a:ext>
            </a:extLst>
          </p:cNvPr>
          <p:cNvSpPr/>
          <p:nvPr/>
        </p:nvSpPr>
        <p:spPr>
          <a:xfrm>
            <a:off x="3291840" y="109728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F1EF1BB3-E7DC-5ED8-5C62-D7028BC7FE12}"/>
              </a:ext>
            </a:extLst>
          </p:cNvPr>
          <p:cNvSpPr/>
          <p:nvPr/>
        </p:nvSpPr>
        <p:spPr>
          <a:xfrm>
            <a:off x="3291840" y="1097280"/>
            <a:ext cx="2560320" cy="54864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D3806D7B-999D-3C48-5700-D44ECD02FFD8}"/>
              </a:ext>
            </a:extLst>
          </p:cNvPr>
          <p:cNvSpPr/>
          <p:nvPr/>
        </p:nvSpPr>
        <p:spPr>
          <a:xfrm>
            <a:off x="3429000" y="1234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Limitations</a:t>
            </a:r>
            <a:endParaRPr lang="en-US" sz="1400" dirty="0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CC1B12F0-D4F1-996F-9BCF-FE7AEC25EEF5}"/>
              </a:ext>
            </a:extLst>
          </p:cNvPr>
          <p:cNvSpPr/>
          <p:nvPr/>
        </p:nvSpPr>
        <p:spPr>
          <a:xfrm>
            <a:off x="3429000" y="164592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(Postbot) is great for boilerplate, but human testers are decisive for edge cases, business rules, and negative tests.</a:t>
            </a:r>
            <a:endParaRPr lang="en-US" sz="1100" dirty="0"/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2C5EF844-641C-FBE6-61BE-207ED5AE5407}"/>
              </a:ext>
            </a:extLst>
          </p:cNvPr>
          <p:cNvSpPr/>
          <p:nvPr/>
        </p:nvSpPr>
        <p:spPr>
          <a:xfrm>
            <a:off x="6126480" y="109728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12">
            <a:extLst>
              <a:ext uri="{FF2B5EF4-FFF2-40B4-BE49-F238E27FC236}">
                <a16:creationId xmlns:a16="http://schemas.microsoft.com/office/drawing/2014/main" id="{87032F41-4AC1-EF9A-FFAB-9C6DA92F45D5}"/>
              </a:ext>
            </a:extLst>
          </p:cNvPr>
          <p:cNvSpPr/>
          <p:nvPr/>
        </p:nvSpPr>
        <p:spPr>
          <a:xfrm>
            <a:off x="6126480" y="1097280"/>
            <a:ext cx="2560320" cy="54864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923063D7-F214-CA2D-1F31-DA2E72ADCDAC}"/>
              </a:ext>
            </a:extLst>
          </p:cNvPr>
          <p:cNvSpPr/>
          <p:nvPr/>
        </p:nvSpPr>
        <p:spPr>
          <a:xfrm>
            <a:off x="6263640" y="1234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Contracts</a:t>
            </a:r>
            <a:endParaRPr lang="en-US" sz="1400" dirty="0"/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515E89AF-ECCE-B536-9616-469E3B8D7298}"/>
              </a:ext>
            </a:extLst>
          </p:cNvPr>
          <p:cNvSpPr/>
          <p:nvPr/>
        </p:nvSpPr>
        <p:spPr>
          <a:xfrm>
            <a:off x="6263640" y="164592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tests prevent client-side crashes by validating data shapes between Frontend and Backend.</a:t>
            </a:r>
            <a:endParaRPr lang="en-US" sz="1100" dirty="0"/>
          </a:p>
        </p:txBody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99890280-DF97-EEEC-EC04-BB3275BF5828}"/>
              </a:ext>
            </a:extLst>
          </p:cNvPr>
          <p:cNvSpPr/>
          <p:nvPr/>
        </p:nvSpPr>
        <p:spPr>
          <a:xfrm>
            <a:off x="777240" y="3383280"/>
            <a:ext cx="7574280" cy="1188720"/>
          </a:xfrm>
          <a:prstGeom prst="roundRect">
            <a:avLst>
              <a:gd name="adj" fmla="val 6154"/>
            </a:avLst>
          </a:prstGeom>
          <a:solidFill>
            <a:schemeClr val="bg1">
              <a:lumMod val="75000"/>
            </a:schemeClr>
          </a:solidFill>
          <a:ln/>
        </p:spPr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3FC9ACCB-6721-CD73-FB65-2AB4CCE6C795}"/>
              </a:ext>
            </a:extLst>
          </p:cNvPr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LISTENING!</a:t>
            </a:r>
            <a:endParaRPr lang="en-US" sz="2000" dirty="0"/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2FDE1C3E-1745-B7C6-67ED-C3E4C9795648}"/>
              </a:ext>
            </a:extLst>
          </p:cNvPr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8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to Live Demo on Postman...</a:t>
            </a:r>
            <a:endParaRPr lang="en-US" sz="1200" dirty="0"/>
          </a:p>
        </p:txBody>
      </p:sp>
      <p:sp>
        <p:nvSpPr>
          <p:cNvPr id="2" name="Text 17">
            <a:extLst>
              <a:ext uri="{FF2B5EF4-FFF2-40B4-BE49-F238E27FC236}">
                <a16:creationId xmlns:a16="http://schemas.microsoft.com/office/drawing/2014/main" id="{1E614682-DAC6-603B-E4AC-97059A736A2C}"/>
              </a:ext>
            </a:extLst>
          </p:cNvPr>
          <p:cNvSpPr/>
          <p:nvPr/>
        </p:nvSpPr>
        <p:spPr>
          <a:xfrm>
            <a:off x="457200" y="420338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 err="1">
                <a:solidFill>
                  <a:srgbClr val="E8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r>
              <a:rPr lang="en-US" sz="1200" i="1" dirty="0">
                <a:solidFill>
                  <a:srgbClr val="E8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Link: </a:t>
            </a:r>
            <a:r>
              <a:rPr lang="en-US" sz="1200" i="1" dirty="0">
                <a:solidFill>
                  <a:srgbClr val="E8EF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https://youtu.be/EHq4QRIPkGk?si=99hrkHmI-ct2ELI8</a:t>
            </a:r>
            <a:r>
              <a:rPr lang="en-US" sz="1200" i="1" dirty="0">
                <a:solidFill>
                  <a:srgbClr val="E8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3966824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1953</Words>
  <Application>Microsoft Office PowerPoint</Application>
  <PresentationFormat>Trình chiếu Trên màn hình (16:9)</PresentationFormat>
  <Paragraphs>209</Paragraphs>
  <Slides>16</Slides>
  <Notes>1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12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16</vt:i4>
      </vt:variant>
    </vt:vector>
  </HeadingPairs>
  <TitlesOfParts>
    <vt:vector size="29" baseType="lpstr">
      <vt:lpstr>Open Sans SemiBold</vt:lpstr>
      <vt:lpstr>Consolas</vt:lpstr>
      <vt:lpstr>Russo One</vt:lpstr>
      <vt:lpstr>Lato</vt:lpstr>
      <vt:lpstr>Crimson Text</vt:lpstr>
      <vt:lpstr>Montserrat</vt:lpstr>
      <vt:lpstr>Mako</vt:lpstr>
      <vt:lpstr>Calibri</vt:lpstr>
      <vt:lpstr>Arial</vt:lpstr>
      <vt:lpstr>Merriweather Light</vt:lpstr>
      <vt:lpstr>Vidaloka</vt:lpstr>
      <vt:lpstr>Josefin Sans</vt:lpstr>
      <vt:lpstr>Minimalist Business Slides XL by Slidesgo</vt:lpstr>
      <vt:lpstr>T06 — API &amp; Contract Testing with Postman + Postbot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Nguyễn Thuận</cp:lastModifiedBy>
  <cp:revision>10</cp:revision>
  <dcterms:modified xsi:type="dcterms:W3CDTF">2026-07-21T13:56:38Z</dcterms:modified>
</cp:coreProperties>
</file>